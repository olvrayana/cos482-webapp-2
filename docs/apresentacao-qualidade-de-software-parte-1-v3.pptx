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D97F27-F2BF-4FB3-B7E8-F8159460B64B}">
  <a:tblStyle styleId="{C3D97F27-F2BF-4FB3-B7E8-F8159460B64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Entrega 1 de COS482. Complexidade dos métodos, testes unitários, testes manuais e defeitos encontrados.</a:t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96 testes vêm da soma por classe: Moodle 29, Admin 21, SignUp 14, UserService 14, CourseInformation 18. Os 32 casos manuais são 13 (práticas) + 10 (modificar curso) + 9 (inscrição).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CC = complexidade ciclomática; o mínimo exigido é 10.</a:t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MoodleController.allCourses (Gabriella Lima). Contagem manual: cada if, laço, else if, &amp;&amp; e || soma 1, mais 1 do método.</a:t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AdminController.modifyCourse (Beatriz Farias). Contagem manual: cada if, laço, else if, &amp;&amp; e || soma 1, mais 1 do método.</a:t>
            </a:r>
            <a:endParaRPr/>
          </a:p>
        </p:txBody>
      </p:sp>
      <p:sp>
        <p:nvSpPr>
          <p:cNvPr id="72" name="Google Shape;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SignUpController.registered (Rayana Oliveira). Contagem manual: cada if, laço, else if, &amp;&amp; e || soma 1, mais 1 do método.</a:t>
            </a:r>
            <a:endParaRPr/>
          </a:p>
        </p:txBody>
      </p:sp>
      <p:sp>
        <p:nvSpPr>
          <p:cNvPr id="84" name="Google Shape;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UserService.updateUser (Thomas Cardoso). Contagem manual: cada if, laço, else if, &amp;&amp; e || soma 1, mais 1 do método.</a:t>
            </a:r>
            <a:endParaRPr/>
          </a:p>
        </p:txBody>
      </p:sp>
      <p:sp>
        <p:nvSpPr>
          <p:cNvPr id="96" name="Google Shape;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CourseInformationController.addCourseToUser (Giulia Cadorin). Contagem manual: cada if, laço, else if, &amp;&amp; e || soma 1, mais 1 do método.</a:t>
            </a:r>
            <a:endParaRPr/>
          </a:p>
        </p:txBody>
      </p:sp>
      <p:sp>
        <p:nvSpPr>
          <p:cNvPr id="108" name="Google Shape;1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MoodleControllerTest (Gabriella Lima): testes com JUnit 5 e Mockito, com repositórios e services mockados.</a:t>
            </a:r>
            <a:endParaRPr/>
          </a:p>
        </p:txBody>
      </p:sp>
      <p:sp>
        <p:nvSpPr>
          <p:cNvPr id="120" name="Google Shape;1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AdminControllerTest (Beatriz Farias): testes com JUnit 5 e Mockito, com repositórios e services mockados.</a:t>
            </a:r>
            <a:endParaRPr/>
          </a:p>
        </p:txBody>
      </p:sp>
      <p:sp>
        <p:nvSpPr>
          <p:cNvPr id="155" name="Google Shape;1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SignUpControllerTest (Rayana Oliveira): testes com JUnit 5 e Mockito, com repositórios e services mockados.</a:t>
            </a:r>
            <a:endParaRPr/>
          </a:p>
        </p:txBody>
      </p:sp>
      <p:sp>
        <p:nvSpPr>
          <p:cNvPr id="182" name="Google Shape;18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UserServiceTest (Thomas Cardoso): testes com JUnit 5 e Mockito, com repositórios e services mockados.</a:t>
            </a:r>
            <a:endParaRPr/>
          </a:p>
        </p:txBody>
      </p:sp>
      <p:sp>
        <p:nvSpPr>
          <p:cNvPr id="217" name="Google Shape;21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CourseInformationControllerTest (Giulia Cadorin): testes com JUnit 5 e Mockito, com repositórios e services mockados.</a:t>
            </a:r>
            <a:endParaRPr/>
          </a:p>
        </p:txBody>
      </p:sp>
      <p:sp>
        <p:nvSpPr>
          <p:cNvPr id="244" name="Google Shape;2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Modificar curso: 9 passaram e 1 falhou. Práticas: 9 passaram (2 com ressalva) e 4 falharam. Inscrição: 6 passaram e 3 falharam.</a:t>
            </a:r>
            <a:endParaRPr/>
          </a:p>
        </p:txBody>
      </p:sp>
      <p:sp>
        <p:nvSpPr>
          <p:cNvPr id="279" name="Google Shape;27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CT-MOD-09 falhou no passo 6: abrir a página do curso excluído devolve erro 500 em vez de 404.</a:t>
            </a:r>
            <a:endParaRPr/>
          </a:p>
        </p:txBody>
      </p:sp>
      <p:sp>
        <p:nvSpPr>
          <p:cNvPr id="306" name="Google Shape;30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Quatro falhas viraram issues: nota sem validação de faixa (CT-08 e CT-09), entrega sem arquivo (CT-11) e correção alterável (CT-12).</a:t>
            </a:r>
            <a:endParaRPr/>
          </a:p>
        </p:txBody>
      </p:sp>
      <p:sp>
        <p:nvSpPr>
          <p:cNvPr id="324" name="Google Shape;32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Três falhas: erro 500 em curso inexistente, aviso compartilhado entre usuários e datas com mês 00.</a:t>
            </a:r>
            <a:endParaRPr/>
          </a:p>
        </p:txBody>
      </p:sp>
      <p:sp>
        <p:nvSpPr>
          <p:cNvPr id="342" name="Google Shape;34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nove defeitos estão nas issues do repositório. As falhas dos casos CT-08 a CT-12 e os NPEs foram reproduzidos em execução.</a:t>
            </a:r>
            <a:endParaRPr/>
          </a:p>
        </p:txBody>
      </p:sp>
      <p:sp>
        <p:nvSpPr>
          <p:cNvPr id="351" name="Google Shape;35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causa do 500 e das datas vem da leitura do código; o stack trace do 500 de /course ainda deve ser anexado à issue.</a:t>
            </a:r>
            <a:endParaRPr/>
          </a:p>
        </p:txBody>
      </p:sp>
      <p:sp>
        <p:nvSpPr>
          <p:cNvPr id="360" name="Google Shape;36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Prazo da Entrega 2: 06/12/2026.</a:t>
            </a:r>
            <a:endParaRPr/>
          </a:p>
        </p:txBody>
      </p:sp>
      <p:sp>
        <p:nvSpPr>
          <p:cNvPr id="379" name="Google Shape;37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DARK">
  <p:cSld name="TITLE_DARK">
    <p:bg>
      <p:bgPr>
        <a:solidFill>
          <a:srgbClr val="0F4C5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  <a:defRPr b="1" i="0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  <a:defRPr b="1" i="0" sz="3000" u="none" cap="none" strike="noStrike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chemeClr val="lt1"/>
                </a:solidFill>
              </a:rPr>
              <a:t>Qualidade de Software - parte 1</a:t>
            </a:r>
            <a:endParaRPr sz="4000"/>
          </a:p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 sz="1800">
                <a:solidFill>
                  <a:schemeClr val="lt2"/>
                </a:solidFill>
              </a:rPr>
              <a:t>Testes unitários e manuais do AMICOurses (COS482-webapp-2)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Entrega 1 em números</a:t>
            </a:r>
            <a:endParaRPr sz="3000"/>
          </a:p>
        </p:txBody>
      </p:sp>
      <p:sp>
        <p:nvSpPr>
          <p:cNvPr id="31" name="Google Shape;31;p6"/>
          <p:cNvSpPr/>
          <p:nvPr/>
        </p:nvSpPr>
        <p:spPr>
          <a:xfrm>
            <a:off x="457200" y="1280160"/>
            <a:ext cx="1920240" cy="310896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6"/>
          <p:cNvSpPr txBox="1"/>
          <p:nvPr/>
        </p:nvSpPr>
        <p:spPr>
          <a:xfrm>
            <a:off x="594360" y="146304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mbria"/>
              <a:buNone/>
            </a:pPr>
            <a:r>
              <a:rPr b="1" lang="en-US" sz="5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107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 txBox="1"/>
          <p:nvPr/>
        </p:nvSpPr>
        <p:spPr>
          <a:xfrm>
            <a:off x="594360" y="24688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testes unitários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 txBox="1"/>
          <p:nvPr/>
        </p:nvSpPr>
        <p:spPr>
          <a:xfrm>
            <a:off x="594360" y="306324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JUnit 5 + Mockito, todos sem falhas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2560320" y="1280160"/>
            <a:ext cx="1920240" cy="310896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2697480" y="146304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mbria"/>
              <a:buNone/>
            </a:pPr>
            <a:r>
              <a:rPr b="1" lang="en-US" sz="5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2697480" y="24688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métodos analisados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6"/>
          <p:cNvSpPr txBox="1"/>
          <p:nvPr/>
        </p:nvSpPr>
        <p:spPr>
          <a:xfrm>
            <a:off x="2697480" y="306324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complexidade ciclomática de 11 a 28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4663440" y="1280160"/>
            <a:ext cx="1920240" cy="310896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 txBox="1"/>
          <p:nvPr/>
        </p:nvSpPr>
        <p:spPr>
          <a:xfrm>
            <a:off x="4800600" y="146304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mbria"/>
              <a:buNone/>
            </a:pPr>
            <a:r>
              <a:rPr b="1" lang="en-US" sz="5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56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/>
          <p:nvPr/>
        </p:nvSpPr>
        <p:spPr>
          <a:xfrm>
            <a:off x="4800600" y="24688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manuais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 txBox="1"/>
          <p:nvPr/>
        </p:nvSpPr>
        <p:spPr>
          <a:xfrm>
            <a:off x="4800600" y="306324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49 </a:t>
            </a:r>
            <a:r>
              <a:rPr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passaram e </a:t>
            </a:r>
            <a:r>
              <a:rPr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falharam, em </a:t>
            </a:r>
            <a:r>
              <a:rPr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funcionalidades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6766560" y="1280160"/>
            <a:ext cx="1920240" cy="3108960"/>
          </a:xfrm>
          <a:prstGeom prst="roundRect">
            <a:avLst>
              <a:gd fmla="val 3810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 txBox="1"/>
          <p:nvPr/>
        </p:nvSpPr>
        <p:spPr>
          <a:xfrm>
            <a:off x="6903720" y="146304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Cambria"/>
              <a:buNone/>
            </a:pPr>
            <a:r>
              <a:rPr b="1" lang="en-US" sz="54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sz="5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 txBox="1"/>
          <p:nvPr/>
        </p:nvSpPr>
        <p:spPr>
          <a:xfrm>
            <a:off x="6903720" y="24688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defeitos encontrados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6903720" y="3063240"/>
            <a:ext cx="16459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lang="en-US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 no Moodle, 3 na inscrição e 1 em curso excluído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Métodos analisados por integrante</a:t>
            </a:r>
            <a:endParaRPr sz="3000"/>
          </a:p>
        </p:txBody>
      </p:sp>
      <p:graphicFrame>
        <p:nvGraphicFramePr>
          <p:cNvPr id="54" name="Google Shape;54;p7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{C3D97F27-F2BF-4FB3-B7E8-F8159460B64B}</a:tableStyleId>
              </a:tblPr>
              <a:tblGrid>
                <a:gridCol w="2834650"/>
                <a:gridCol w="1828800"/>
                <a:gridCol w="640075"/>
                <a:gridCol w="822950"/>
                <a:gridCol w="2103125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Classe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Método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CC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Testes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Responsável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MoodleController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allCourses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29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Gabriella Lima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AdminController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modifyCourse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13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21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Beatriz Farias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SignUpController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registered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16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14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Rayana Oliveira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UserService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updateUser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28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>
                          <a:solidFill>
                            <a:srgbClr val="16222E"/>
                          </a:solidFill>
                        </a:rPr>
                        <a:t>25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Thomas Cardoso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CourseInformationController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addCourseToUser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18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Giulia Cadorin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" name="Google Shape;55;p7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Requisito: JDK 8 (o Mockito antigo quebra em versões mais novas).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allCourses: complexidade 13</a:t>
            </a:r>
            <a:endParaRPr sz="3000"/>
          </a:p>
        </p:txBody>
      </p:sp>
      <p:sp>
        <p:nvSpPr>
          <p:cNvPr id="63" name="Google Shape;63;p8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fmla="val 285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Font typeface="Cambria"/>
              <a:buNone/>
            </a:pPr>
            <a:r>
              <a:rPr b="1" lang="en-US" sz="7200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13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MoodleController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Gabriella Lima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Maior peso: o tratamento das práticas do aluno (5 de 13).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40" y="1188720"/>
            <a:ext cx="5394960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modifyCourse: complexidade 13</a:t>
            </a:r>
            <a:endParaRPr sz="3000"/>
          </a:p>
        </p:txBody>
      </p:sp>
      <p:sp>
        <p:nvSpPr>
          <p:cNvPr id="75" name="Google Shape;75;p9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fmla="val 285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Font typeface="Cambria"/>
              <a:buNone/>
            </a:pPr>
            <a:r>
              <a:rPr b="1" lang="en-US" sz="7200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13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9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AdminController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Beatriz Farias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9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Candidato a dividir em saveCourse e deleteCourse.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40" y="1188720"/>
            <a:ext cx="5394960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registered: complexidade 16</a:t>
            </a:r>
            <a:endParaRPr sz="3000"/>
          </a:p>
        </p:txBody>
      </p:sp>
      <p:sp>
        <p:nvSpPr>
          <p:cNvPr id="87" name="Google Shape;87;p10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fmla="val 285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Font typeface="Cambria"/>
              <a:buNone/>
            </a:pPr>
            <a:r>
              <a:rPr b="1" lang="en-US" sz="7200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0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SignUpController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Rayana Oliveira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Cadeia de validações: cada regra de senha e de nome vira um desvio.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40" y="1188720"/>
            <a:ext cx="5394960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updateUser: complexidade 28</a:t>
            </a:r>
            <a:endParaRPr sz="3000"/>
          </a:p>
        </p:txBody>
      </p:sp>
      <p:sp>
        <p:nvSpPr>
          <p:cNvPr id="99" name="Google Shape;99;p11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fmla="val 285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1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Font typeface="Cambria"/>
              <a:buNone/>
            </a:pPr>
            <a:r>
              <a:rPr b="1" lang="en-US" sz="7200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28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1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UserService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Thomas Cardoso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1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Atualiza campos do perfil com regras por campo; valores inválidos não sobrescrevem dados.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40" y="1188720"/>
            <a:ext cx="5394960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addCourseToUser: complexidade 11</a:t>
            </a:r>
            <a:endParaRPr sz="3000"/>
          </a:p>
        </p:txBody>
      </p:sp>
      <p:sp>
        <p:nvSpPr>
          <p:cNvPr id="111" name="Google Shape;111;p12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fmla="val 285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200"/>
              <a:buFont typeface="Cambria"/>
              <a:buNone/>
            </a:pPr>
            <a:r>
              <a:rPr b="1" lang="en-US" sz="7200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CourseInformationController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Giulia Cadorin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dois laços de busca com &amp;&amp; concentram 4 dos 11 pontos.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40" y="1188720"/>
            <a:ext cx="5394960" cy="3383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2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MoodleControllerTest: 29 testes</a:t>
            </a:r>
            <a:endParaRPr sz="3000"/>
          </a:p>
        </p:txBody>
      </p:sp>
      <p:sp>
        <p:nvSpPr>
          <p:cNvPr id="123" name="Google Shape;123;p13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1051560" y="109728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allCourses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2834640" y="1097280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visões de aluno e professor, não inscrito, curso ou disciplina inexistente (NPE)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457200" y="1664208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457200" y="166420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1051560" y="1627632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moduleAction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2834640" y="1627632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professor adiciona e exclui módulo; aluno, visitante e opção inválida não alteram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457200" y="2194560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457200" y="21945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1051560" y="215798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uploadStudyItem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2834640" y="2157984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professor envia arquivo; nome vazio, aluno e visitante (NPE) não conseguem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457200" y="2724912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457200" y="272491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1051560" y="2688336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download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2834640" y="2688336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aluno baixa item e própria prática; prática alheia e curso inexistente barrados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457200" y="3255264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457200" y="3255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 txBox="1"/>
          <p:nvPr/>
        </p:nvSpPr>
        <p:spPr>
          <a:xfrm>
            <a:off x="1051560" y="321868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modifyStudyItem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2834640" y="3218688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salvar atualiza; excluir remove item e submissões; sem botão não muda nada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457200" y="378561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"/>
          <p:cNvSpPr txBox="1"/>
          <p:nvPr/>
        </p:nvSpPr>
        <p:spPr>
          <a:xfrm>
            <a:off x="457200" y="37856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1051560" y="374904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updateCalification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2834640" y="3749040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professor lança a nota; aluno não pode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457200" y="4315968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"/>
          <p:cNvSpPr txBox="1"/>
          <p:nvPr/>
        </p:nvSpPr>
        <p:spPr>
          <a:xfrm>
            <a:off x="457200" y="43159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1051560" y="4279392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modifyPractice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2834640" y="4279392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aluno renomeia e reenvia; nome vazio e professor não modificam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AdminControllerTest: 21 testes</a:t>
            </a:r>
            <a:endParaRPr sz="3000"/>
          </a:p>
        </p:txBody>
      </p:sp>
      <p:sp>
        <p:nvSpPr>
          <p:cNvPr id="158" name="Google Shape;158;p14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E4572E"/>
          </a:solidFill>
          <a:ln cap="flat" cmpd="sng" w="127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1051560" y="1097280"/>
            <a:ext cx="1737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modifyCourse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2834640" y="1097280"/>
            <a:ext cx="58521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salvar, ignorar vazios, renomear muda o internalName, excluir remove vínculos, sem botão, curso inexistente, aluno e visitante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457200" y="177393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"/>
          <p:cNvSpPr txBox="1"/>
          <p:nvPr/>
        </p:nvSpPr>
        <p:spPr>
          <a:xfrm>
            <a:off x="457200" y="1773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051560" y="1737360"/>
            <a:ext cx="1737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createTeacher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2834640" y="1737360"/>
            <a:ext cx="58521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senha de 8 a 14 caracteres, usuário e e-mail inválidos ou repetidos, só admin cria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457200" y="241401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"/>
          <p:cNvSpPr txBox="1"/>
          <p:nvPr/>
        </p:nvSpPr>
        <p:spPr>
          <a:xfrm>
            <a:off x="457200" y="24140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 txBox="1"/>
          <p:nvPr/>
        </p:nvSpPr>
        <p:spPr>
          <a:xfrm>
            <a:off x="1051560" y="2377440"/>
            <a:ext cx="1737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createCourse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2834640" y="2377440"/>
            <a:ext cx="58521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chama o serviço; até um aluno consegue criar (comportamento registrado)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457200" y="305409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457200" y="30540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1051560" y="3017520"/>
            <a:ext cx="1737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viewProfile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 txBox="1"/>
          <p:nvPr/>
        </p:nvSpPr>
        <p:spPr>
          <a:xfrm>
            <a:off x="2834640" y="3017520"/>
            <a:ext cx="58521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vê cursos e professores; os demais recebem a página sem dados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457200" y="369417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457200" y="369417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 txBox="1"/>
          <p:nvPr/>
        </p:nvSpPr>
        <p:spPr>
          <a:xfrm>
            <a:off x="1051560" y="3657600"/>
            <a:ext cx="1737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deleteUser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2834640" y="3657600"/>
            <a:ext cx="58521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endpoint ainda não faz nada (registrado em teste)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SignUpControllerTest: 14 testes</a:t>
            </a:r>
            <a:endParaRPr sz="3000"/>
          </a:p>
        </p:txBody>
      </p:sp>
      <p:sp>
        <p:nvSpPr>
          <p:cNvPr id="185" name="Google Shape;185;p15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1051560" y="109728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signup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2834640" y="1097280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inicializa o modelo e abre a tela de cadastro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457200" y="1664208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457200" y="166420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051560" y="1627632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registered: sucesso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2834640" y="1627632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cadastro válido redireciona para o login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/>
          <p:nvPr/>
        </p:nvSpPr>
        <p:spPr>
          <a:xfrm>
            <a:off x="457200" y="2194560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"/>
          <p:cNvSpPr txBox="1"/>
          <p:nvPr/>
        </p:nvSpPr>
        <p:spPr>
          <a:xfrm>
            <a:off x="457200" y="21945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1051560" y="215798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campos vazios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2834640" y="2157984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usuário, senha e e-mail vazios são rejeitados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457200" y="2724912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457200" y="272491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5"/>
          <p:cNvSpPr txBox="1"/>
          <p:nvPr/>
        </p:nvSpPr>
        <p:spPr>
          <a:xfrm>
            <a:off x="1051560" y="2688336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senha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2834640" y="2688336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senhas diferentes, curta demais e longa demais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/>
          <p:nvPr/>
        </p:nvSpPr>
        <p:spPr>
          <a:xfrm>
            <a:off x="457200" y="3255264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457200" y="3255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1051560" y="321868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nome de usuário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2834640" y="3218688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curto, longo e com caracteres inválidos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457200" y="378561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457200" y="37856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1051560" y="374904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e-mail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 txBox="1"/>
          <p:nvPr/>
        </p:nvSpPr>
        <p:spPr>
          <a:xfrm>
            <a:off x="2834640" y="3749040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formato inválido é rejeitado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457200" y="4315968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457200" y="43159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1051560" y="4279392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duplicidade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 txBox="1"/>
          <p:nvPr/>
        </p:nvSpPr>
        <p:spPr>
          <a:xfrm>
            <a:off x="2834640" y="4279392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usuário e e-mail já em uso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UserServiceTest: 25 testes</a:t>
            </a:r>
            <a:endParaRPr sz="3000"/>
          </a:p>
        </p:txBody>
      </p:sp>
      <p:sp>
        <p:nvSpPr>
          <p:cNvPr id="220" name="Google Shape;220;p16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051560" y="1097280"/>
            <a:ext cx="1737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Validações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 txBox="1"/>
          <p:nvPr/>
        </p:nvSpPr>
        <p:spPr>
          <a:xfrm>
            <a:off x="2834640" y="1097280"/>
            <a:ext cx="58521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Senha (8-14), username (5-15) e formato do e-mail.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6"/>
          <p:cNvSpPr/>
          <p:nvPr/>
        </p:nvSpPr>
        <p:spPr>
          <a:xfrm>
            <a:off x="457200" y="177393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457200" y="1773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 txBox="1"/>
          <p:nvPr/>
        </p:nvSpPr>
        <p:spPr>
          <a:xfrm>
            <a:off x="1051560" y="1737360"/>
            <a:ext cx="1737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checkUser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2834640" y="1737360"/>
            <a:ext cx="58521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 aluno/admin; recusa credenciais inválidas ou duplicadas.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/>
          <p:nvPr/>
        </p:nvSpPr>
        <p:spPr>
          <a:xfrm>
            <a:off x="457200" y="241401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457200" y="24140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1051560" y="2377440"/>
            <a:ext cx="1737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updateUser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2834640" y="2377440"/>
            <a:ext cx="58521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 perfil; ignora campos inválidos e trata usuário ausente.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457200" y="305409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6"/>
          <p:cNvSpPr txBox="1"/>
          <p:nvPr/>
        </p:nvSpPr>
        <p:spPr>
          <a:xfrm>
            <a:off x="457200" y="30540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1051560" y="3017520"/>
            <a:ext cx="1737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deleteUser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2834640" y="3017520"/>
            <a:ext cx="58521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 vínculos e submissões antes de apagar o usuário.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/>
          <p:nvPr/>
        </p:nvSpPr>
        <p:spPr>
          <a:xfrm>
            <a:off x="457200" y="369417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6"/>
          <p:cNvSpPr txBox="1"/>
          <p:nvPr/>
        </p:nvSpPr>
        <p:spPr>
          <a:xfrm>
            <a:off x="457200" y="369417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1051560" y="3657600"/>
            <a:ext cx="1737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saveImg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2834640" y="3657600"/>
            <a:ext cx="58521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Testa arquivo nulo ou vazio; upload válido coberto manualmente.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6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7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CourseInformationControllerTest: 18 testes</a:t>
            </a:r>
            <a:endParaRPr sz="3000"/>
          </a:p>
        </p:txBody>
      </p:sp>
      <p:sp>
        <p:nvSpPr>
          <p:cNvPr id="247" name="Google Shape;247;p17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1051560" y="109728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visitante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2834640" y="1097280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 à página do curso, não consulta nem salva, mostra aviso de login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457200" y="1664208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7"/>
          <p:cNvSpPr txBox="1"/>
          <p:nvPr/>
        </p:nvSpPr>
        <p:spPr>
          <a:xfrm>
            <a:off x="457200" y="166420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1051560" y="1627632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inscrição com sucesso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2834640" y="1627632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vai ao perfil, salva usuário e curso, soma 1 e atualiza as duas listas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457200" y="2194560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"/>
          <p:cNvSpPr txBox="1"/>
          <p:nvPr/>
        </p:nvSpPr>
        <p:spPr>
          <a:xfrm>
            <a:off x="457200" y="219456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1051560" y="2157984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outras inscrições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2834640" y="2157984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mantém as anteriores; quem concluiu outro curso ainda se inscreve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457200" y="2724912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7"/>
          <p:cNvSpPr txBox="1"/>
          <p:nvPr/>
        </p:nvSpPr>
        <p:spPr>
          <a:xfrm>
            <a:off x="457200" y="272491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7"/>
          <p:cNvSpPr txBox="1"/>
          <p:nvPr/>
        </p:nvSpPr>
        <p:spPr>
          <a:xfrm>
            <a:off x="1051560" y="2688336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já inscrito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2834640" y="2688336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 com mensagem, não salva nada, acha o curso em qualquer posição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457200" y="3255264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"/>
          <p:cNvSpPr txBox="1"/>
          <p:nvPr/>
        </p:nvSpPr>
        <p:spPr>
          <a:xfrm>
            <a:off x="457200" y="3255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1051560" y="321868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já concluído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 txBox="1"/>
          <p:nvPr/>
        </p:nvSpPr>
        <p:spPr>
          <a:xfrm>
            <a:off x="2834640" y="3218688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volta com mensagem de concluído e não salva nada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457200" y="378561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457200" y="37856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1051560" y="3749040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mensagem única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2834640" y="3749040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erro aparece uma vez e depois é limpo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457200" y="4315968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7"/>
          <p:cNvSpPr txBox="1"/>
          <p:nvPr/>
        </p:nvSpPr>
        <p:spPr>
          <a:xfrm>
            <a:off x="457200" y="43159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 txBox="1"/>
          <p:nvPr/>
        </p:nvSpPr>
        <p:spPr>
          <a:xfrm>
            <a:off x="1051560" y="4279392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curso inexistente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 txBox="1"/>
          <p:nvPr/>
        </p:nvSpPr>
        <p:spPr>
          <a:xfrm>
            <a:off x="2834640" y="4279392"/>
            <a:ext cx="5852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comportamento atual: lança NullPointerException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Resultados dos </a:t>
            </a:r>
            <a:r>
              <a:rPr lang="en-US"/>
              <a:t>56 </a:t>
            </a:r>
            <a:r>
              <a:rPr b="1" lang="en-US" sz="3000">
                <a:solidFill>
                  <a:schemeClr val="dk2"/>
                </a:solidFill>
              </a:rPr>
              <a:t>casos manuais</a:t>
            </a:r>
            <a:endParaRPr sz="3000"/>
          </a:p>
        </p:txBody>
      </p:sp>
      <p:sp>
        <p:nvSpPr>
          <p:cNvPr id="282" name="Google Shape;282;p18"/>
          <p:cNvSpPr txBox="1"/>
          <p:nvPr/>
        </p:nvSpPr>
        <p:spPr>
          <a:xfrm>
            <a:off x="5852160" y="1005845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Modificar curso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 txBox="1"/>
          <p:nvPr/>
        </p:nvSpPr>
        <p:spPr>
          <a:xfrm>
            <a:off x="5852160" y="1353317"/>
            <a:ext cx="283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casos, Beatriz Farias, 11/10/2026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 txBox="1"/>
          <p:nvPr/>
        </p:nvSpPr>
        <p:spPr>
          <a:xfrm>
            <a:off x="5852160" y="1723640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Práticas (Moodle)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8"/>
          <p:cNvSpPr txBox="1"/>
          <p:nvPr/>
        </p:nvSpPr>
        <p:spPr>
          <a:xfrm>
            <a:off x="5852160" y="2071112"/>
            <a:ext cx="283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casos, Gabriella Lima, 11/10/2026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 txBox="1"/>
          <p:nvPr/>
        </p:nvSpPr>
        <p:spPr>
          <a:xfrm>
            <a:off x="5852185" y="2448348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Inscrição em curso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 txBox="1"/>
          <p:nvPr/>
        </p:nvSpPr>
        <p:spPr>
          <a:xfrm>
            <a:off x="5852185" y="2795820"/>
            <a:ext cx="283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casos, Giulia Cadorin, 11/10/2026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18" title="Pontos marcado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50" y="1005840"/>
            <a:ext cx="5547360" cy="343011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8"/>
          <p:cNvSpPr txBox="1"/>
          <p:nvPr/>
        </p:nvSpPr>
        <p:spPr>
          <a:xfrm>
            <a:off x="5852124" y="3176449"/>
            <a:ext cx="3138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Cadastro, perfil e exclusão de usuário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 txBox="1"/>
          <p:nvPr/>
        </p:nvSpPr>
        <p:spPr>
          <a:xfrm>
            <a:off x="5852135" y="3523917"/>
            <a:ext cx="283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casos,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Thomas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11/10/2026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5852135" y="3904545"/>
            <a:ext cx="283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Cadastro de novo utilizador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"/>
          <p:cNvSpPr txBox="1"/>
          <p:nvPr/>
        </p:nvSpPr>
        <p:spPr>
          <a:xfrm>
            <a:off x="5852135" y="4252017"/>
            <a:ext cx="283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casos,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Rayana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11/10/2026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Modificar curso: resultados (1/2)</a:t>
            </a:r>
            <a:endParaRPr sz="3000"/>
          </a:p>
        </p:txBody>
      </p:sp>
      <p:graphicFrame>
        <p:nvGraphicFramePr>
          <p:cNvPr id="300" name="Google Shape;300;p19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{C3D97F27-F2BF-4FB3-B7E8-F8159460B64B}</a:tableStyleId>
              </a:tblPr>
              <a:tblGrid>
                <a:gridCol w="1143000"/>
                <a:gridCol w="2788925"/>
                <a:gridCol w="1463050"/>
                <a:gridCol w="283465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Caso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Teste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CT-MOD-01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Visitante abre /admin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redirecionado ao login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CT-MOD-02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Aluno abre /admin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acesso negado (403)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CT-MOD-03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Salvar os quatro campos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4 campos gravados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CT-MOD-04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Salvar com campos vazios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valores originais mantidos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CT-MOD-05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Salvar só o nome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só o nome mudou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1" name="Google Shape;301;p19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Executado em 11/10/2026 por Beatriz Farias, no navegador.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Modificar curso: resultados (2/2)</a:t>
            </a:r>
            <a:endParaRPr sz="3000"/>
          </a:p>
        </p:txBody>
      </p:sp>
      <p:graphicFrame>
        <p:nvGraphicFramePr>
          <p:cNvPr id="309" name="Google Shape;309;p20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{C3D97F27-F2BF-4FB3-B7E8-F8159460B64B}</a:tableStyleId>
              </a:tblPr>
              <a:tblGrid>
                <a:gridCol w="1143000"/>
                <a:gridCol w="2788925"/>
                <a:gridCol w="1463050"/>
                <a:gridCol w="283465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Caso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Teste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CT-MOD-06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Salvar só a descrição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só a descrição mudou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CT-MOD-07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Salvar só o idioma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só o idioma mudou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CT-MOD-08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Salvar só o tipo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só o tipo mudou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CT-MOD-09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Excluir curso com vínculos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572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4572E"/>
                          </a:solidFill>
                        </a:rPr>
                        <a:t>Falhou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passo 6: página do curso dá 500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CT-MOD-10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Excluir curso sem vínculos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curso removido sem erro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0" name="Google Shape;310;p20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Executado em 11/10/2026 por Beatriz Farias, no navegador.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1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Práticas: resultados (1/2)</a:t>
            </a:r>
            <a:endParaRPr sz="3000"/>
          </a:p>
        </p:txBody>
      </p:sp>
      <p:graphicFrame>
        <p:nvGraphicFramePr>
          <p:cNvPr id="318" name="Google Shape;318;p21"/>
          <p:cNvGraphicFramePr/>
          <p:nvPr/>
        </p:nvGraphicFramePr>
        <p:xfrm>
          <a:off x="418163" y="8967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{C3D97F27-F2BF-4FB3-B7E8-F8159460B64B}</a:tableStyleId>
              </a:tblPr>
              <a:tblGrid>
                <a:gridCol w="1143000"/>
                <a:gridCol w="2788925"/>
                <a:gridCol w="1463050"/>
                <a:gridCol w="283465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Caso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Teste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CT-PRAT-01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Aluno vê as próprias práticas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própria e pendente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CT-PRAT-02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Aluno submete uma prática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nome e arquivo gravados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CT-PRAT-03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Professor corrige e dá nota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nota 8.5, corrigida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CT-PRAT-04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Aluno não pode dar nota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sem campo de nota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CT-PRAT-05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Professor gerencia, não submete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sem formulário de envio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CT-PRAT-06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Não inscrito na disciplina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página de erro amigável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CT-PRAT-07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Aluno baixa só a própria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791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B7791F"/>
                          </a:solidFill>
                        </a:rPr>
                        <a:t>Com ressalva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download alheio dá 200 vazio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9" name="Google Shape;319;p21"/>
          <p:cNvSpPr txBox="1"/>
          <p:nvPr/>
        </p:nvSpPr>
        <p:spPr>
          <a:xfrm>
            <a:off x="457188" y="4944425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Executado em 11/10/2026 por Gabriella Lima; CT-PRAT-07 reexecutado em 12/10.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 txBox="1"/>
          <p:nvPr>
            <p:ph idx="4294967295" type="sldNum"/>
          </p:nvPr>
        </p:nvSpPr>
        <p:spPr>
          <a:xfrm>
            <a:off x="8556900" y="4903799"/>
            <a:ext cx="4572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2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Práticas: resultados (2/2)</a:t>
            </a:r>
            <a:endParaRPr sz="3000"/>
          </a:p>
        </p:txBody>
      </p:sp>
      <p:graphicFrame>
        <p:nvGraphicFramePr>
          <p:cNvPr id="327" name="Google Shape;327;p22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{C3D97F27-F2BF-4FB3-B7E8-F8159460B64B}</a:tableStyleId>
              </a:tblPr>
              <a:tblGrid>
                <a:gridCol w="1143000"/>
                <a:gridCol w="2788925"/>
                <a:gridCol w="1463050"/>
                <a:gridCol w="283465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Caso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Teste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CT-08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Nota negativa (-5)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572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4572E"/>
                          </a:solidFill>
                        </a:rPr>
                        <a:t>Falhou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nota -5.0 gravada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CT-09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Nota acima do máximo (1000)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572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4572E"/>
                          </a:solidFill>
                        </a:rPr>
                        <a:t>Falhou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nota 1000.0 gravada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CT-10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Nota com texto (abc)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7791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B7791F"/>
                          </a:solidFill>
                        </a:rPr>
                        <a:t>Com ressalva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400 sem mensagem amigável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CT-11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Submissão sem arquivo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572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4572E"/>
                          </a:solidFill>
                        </a:rPr>
                        <a:t>Falhou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marcada como entregue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CT-12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Nome vazio com arquivo</a:t>
                      </a:r>
                      <a:endParaRPr>
                        <a:solidFill>
                          <a:srgbClr val="16222E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>
                          <a:solidFill>
                            <a:schemeClr val="accent3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nenhum dado alterado</a:t>
                      </a:r>
                      <a:endParaRPr>
                        <a:solidFill>
                          <a:srgbClr val="16222E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8" name="Google Shape;328;p22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Executado em 11/10/2026 por Gabriella Lima; CT-PRAT-07 reexecutado em 12/10.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3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Inscrição em curso: resultados (1/2)</a:t>
            </a:r>
            <a:endParaRPr sz="3000"/>
          </a:p>
        </p:txBody>
      </p:sp>
      <p:graphicFrame>
        <p:nvGraphicFramePr>
          <p:cNvPr id="336" name="Google Shape;336;p23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{C3D97F27-F2BF-4FB3-B7E8-F8159460B64B}</a:tableStyleId>
              </a:tblPr>
              <a:tblGrid>
                <a:gridCol w="1143000"/>
                <a:gridCol w="2788925"/>
                <a:gridCol w="1463050"/>
                <a:gridCol w="283465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Caso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Teste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CT-INSC-01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Visitante tenta se inscrever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alerta pedindo login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CT-INSC-02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Inscrição com sucesso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curso aparece no perfil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CT-INSC-03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Nova tentativa logo depois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aviso de já inscrito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CT-INSC-04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Curso em que já está inscrito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aviso de já inscrito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CT-INSC-05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Curso que já concluiu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aviso de curso concluído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7" name="Google Shape;337;p23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Executado em 11/10/2026 por Giulia Cadorin, no navegador.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4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Inscrição em curso: resultados (2/2)</a:t>
            </a:r>
            <a:endParaRPr sz="3000"/>
          </a:p>
        </p:txBody>
      </p:sp>
      <p:graphicFrame>
        <p:nvGraphicFramePr>
          <p:cNvPr id="345" name="Google Shape;345;p24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{C3D97F27-F2BF-4FB3-B7E8-F8159460B64B}</a:tableStyleId>
              </a:tblPr>
              <a:tblGrid>
                <a:gridCol w="1143000"/>
                <a:gridCol w="2788925"/>
                <a:gridCol w="1463050"/>
                <a:gridCol w="283465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Caso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Teste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C5C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CT-INSC-06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Mensagem de erro só uma vez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9E6B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2E9E6B"/>
                          </a:solidFill>
                        </a:rPr>
                        <a:t>Passou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alerta some após F5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CT-INSC-07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Curso que não existe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572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4572E"/>
                          </a:solidFill>
                        </a:rPr>
                        <a:t>Falhou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erro 500 (NullPointerException)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CT-INSC-08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Mensagem de um usuário a outro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572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4572E"/>
                          </a:solidFill>
                        </a:rPr>
                        <a:t>Falhou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aviso aparece para outro usuário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CT-INSC-09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Datas de início e fim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4572E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E4572E"/>
                          </a:solidFill>
                        </a:rPr>
                        <a:t>Falhou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222E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6222E"/>
                          </a:solidFill>
                        </a:rPr>
                        <a:t>datas com mês 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8C5D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6" name="Google Shape;346;p24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Executado em 11/10/2026 por Giulia Cadorin, no navegador.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Defeitos do MoodleController</a:t>
            </a:r>
            <a:endParaRPr sz="3000"/>
          </a:p>
        </p:txBody>
      </p:sp>
      <p:sp>
        <p:nvSpPr>
          <p:cNvPr id="354" name="Google Shape;354;p25"/>
          <p:cNvSpPr/>
          <p:nvPr/>
        </p:nvSpPr>
        <p:spPr>
          <a:xfrm>
            <a:off x="457200" y="1234440"/>
            <a:ext cx="8229600" cy="3383280"/>
          </a:xfrm>
          <a:prstGeom prst="roundRect">
            <a:avLst>
              <a:gd fmla="val 2162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5"/>
          <p:cNvSpPr txBox="1"/>
          <p:nvPr/>
        </p:nvSpPr>
        <p:spPr>
          <a:xfrm>
            <a:off x="731520" y="1463040"/>
            <a:ext cx="76809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NPEs: dois reproduzidos com HTTP 500 e um latente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 sem validação de faixa: aceita -5 e 1000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Prática marcada como entregue com arquivo vazio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 400 sem mensagem amigável ao enviar nota com texto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count() usado como ID: HTTP 500 com EntityNotFoundException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Download de prática alheia bloqueado com resposta 200 vazia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5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6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Defeitos em cursos e inscrição</a:t>
            </a:r>
            <a:endParaRPr sz="3000"/>
          </a:p>
        </p:txBody>
      </p:sp>
      <p:sp>
        <p:nvSpPr>
          <p:cNvPr id="363" name="Google Shape;363;p26"/>
          <p:cNvSpPr/>
          <p:nvPr/>
        </p:nvSpPr>
        <p:spPr>
          <a:xfrm>
            <a:off x="457200" y="1234440"/>
            <a:ext cx="2560320" cy="3383280"/>
          </a:xfrm>
          <a:prstGeom prst="roundRect">
            <a:avLst>
              <a:gd fmla="val 285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640080" y="13716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Curso inexistente devolve 500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6"/>
          <p:cNvSpPr txBox="1"/>
          <p:nvPr/>
        </p:nvSpPr>
        <p:spPr>
          <a:xfrm>
            <a:off x="640080" y="21488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CT-MOD-09 e CT-INSC-07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6"/>
          <p:cNvSpPr txBox="1"/>
          <p:nvPr/>
        </p:nvSpPr>
        <p:spPr>
          <a:xfrm>
            <a:off x="640080" y="2606040"/>
            <a:ext cx="21945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findByInternalName devolve null e o código chama course.getName() sem checar: NullPointerException.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3291840" y="1234440"/>
            <a:ext cx="2560320" cy="3383280"/>
          </a:xfrm>
          <a:prstGeom prst="roundRect">
            <a:avLst>
              <a:gd fmla="val 285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6"/>
          <p:cNvSpPr txBox="1"/>
          <p:nvPr/>
        </p:nvSpPr>
        <p:spPr>
          <a:xfrm>
            <a:off x="3474720" y="13716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Aviso aparece para outro usuário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 txBox="1"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CT-INSC-08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6"/>
          <p:cNvSpPr txBox="1"/>
          <p:nvPr/>
        </p:nvSpPr>
        <p:spPr>
          <a:xfrm>
            <a:off x="3474720" y="2606040"/>
            <a:ext cx="21945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mensagem fica guardada no servidor e é exibida a quem abrir a página depois.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6126480" y="1234440"/>
            <a:ext cx="2560320" cy="3383280"/>
          </a:xfrm>
          <a:prstGeom prst="roundRect">
            <a:avLst>
              <a:gd fmla="val 2857" name="adj"/>
            </a:avLst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6"/>
          <p:cNvSpPr txBox="1"/>
          <p:nvPr/>
        </p:nvSpPr>
        <p:spPr>
          <a:xfrm>
            <a:off x="6309360" y="13716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Datas com mês 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 txBox="1"/>
          <p:nvPr/>
        </p:nvSpPr>
        <p:spPr>
          <a:xfrm>
            <a:off x="6309360" y="21488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CT-INSC-09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 txBox="1"/>
          <p:nvPr/>
        </p:nvSpPr>
        <p:spPr>
          <a:xfrm>
            <a:off x="6309360" y="2606040"/>
            <a:ext cx="21945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formato dd-mm-yyyy usa mm, que é minuto, no lugar de MM, que é mês.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6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7"/>
          <p:cNvSpPr txBox="1"/>
          <p:nvPr>
            <p:ph type="title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chemeClr val="lt1"/>
                </a:solidFill>
              </a:rPr>
              <a:t>Próximos passos: Entrega 2</a:t>
            </a:r>
            <a:endParaRPr sz="4000"/>
          </a:p>
        </p:txBody>
      </p:sp>
      <p:sp>
        <p:nvSpPr>
          <p:cNvPr id="382" name="Google Shape;382;p27"/>
          <p:cNvSpPr txBox="1"/>
          <p:nvPr>
            <p:ph idx="1" type="body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en-US" sz="1800">
                <a:solidFill>
                  <a:schemeClr val="lt2"/>
                </a:solidFill>
              </a:rPr>
              <a:t>Testes de integração e E2E com Selenium, um por integrante</a:t>
            </a:r>
            <a:endParaRPr sz="1800"/>
          </a:p>
          <a:p>
            <a:pPr indent="-342900" lvl="0" marL="342900" rtl="0" algn="l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en-US" sz="1800">
                <a:solidFill>
                  <a:schemeClr val="lt2"/>
                </a:solidFill>
              </a:rPr>
              <a:t>Cobertura de arestas e escore de mutação de 80% nas classes foco</a:t>
            </a:r>
            <a:endParaRPr sz="1800"/>
          </a:p>
          <a:p>
            <a:pPr indent="-342900" lvl="0" marL="342900" rtl="0" algn="l">
              <a:spcBef>
                <a:spcPts val="96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</a:pPr>
            <a:r>
              <a:rPr lang="en-US" sz="1800">
                <a:solidFill>
                  <a:schemeClr val="lt2"/>
                </a:solidFill>
              </a:rPr>
              <a:t>Inspeção com SonarQube e correção dos defeitos abertos</a:t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8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 txBox="1"/>
          <p:nvPr/>
        </p:nvSpPr>
        <p:spPr>
          <a:xfrm>
            <a:off x="1051560" y="1097280"/>
            <a:ext cx="1737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Cadastro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8"/>
          <p:cNvSpPr txBox="1"/>
          <p:nvPr/>
        </p:nvSpPr>
        <p:spPr>
          <a:xfrm>
            <a:off x="2834640" y="1097280"/>
            <a:ext cx="58521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CT-USR-01-06: validação, duplicidade e senha.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457200" y="177393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8"/>
          <p:cNvSpPr txBox="1"/>
          <p:nvPr/>
        </p:nvSpPr>
        <p:spPr>
          <a:xfrm>
            <a:off x="457200" y="17739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8"/>
          <p:cNvSpPr txBox="1"/>
          <p:nvPr/>
        </p:nvSpPr>
        <p:spPr>
          <a:xfrm>
            <a:off x="1051560" y="1737360"/>
            <a:ext cx="1737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Perfil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8"/>
          <p:cNvSpPr txBox="1"/>
          <p:nvPr/>
        </p:nvSpPr>
        <p:spPr>
          <a:xfrm>
            <a:off x="2834640" y="1737360"/>
            <a:ext cx="58521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CT-USR-07-08: atualização e limites dos campos.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457200" y="241401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8"/>
          <p:cNvSpPr txBox="1"/>
          <p:nvPr/>
        </p:nvSpPr>
        <p:spPr>
          <a:xfrm>
            <a:off x="457200" y="24140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8"/>
          <p:cNvSpPr txBox="1"/>
          <p:nvPr/>
        </p:nvSpPr>
        <p:spPr>
          <a:xfrm>
            <a:off x="1051560" y="2377440"/>
            <a:ext cx="1737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Foto do perfil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8"/>
          <p:cNvSpPr txBox="1"/>
          <p:nvPr/>
        </p:nvSpPr>
        <p:spPr>
          <a:xfrm>
            <a:off x="2834640" y="2377440"/>
            <a:ext cx="58521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CT-USR-09-10: imagem padrão, upload e consulta.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8"/>
          <p:cNvSpPr/>
          <p:nvPr/>
        </p:nvSpPr>
        <p:spPr>
          <a:xfrm>
            <a:off x="457200" y="3054096"/>
            <a:ext cx="420624" cy="420624"/>
          </a:xfrm>
          <a:prstGeom prst="ellipse">
            <a:avLst/>
          </a:prstGeom>
          <a:solidFill>
            <a:srgbClr val="0F8B8D"/>
          </a:solidFill>
          <a:ln cap="flat" cmpd="sng" w="12700">
            <a:solidFill>
              <a:srgbClr val="0F8B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8"/>
          <p:cNvSpPr txBox="1"/>
          <p:nvPr/>
        </p:nvSpPr>
        <p:spPr>
          <a:xfrm>
            <a:off x="457200" y="305409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8"/>
          <p:cNvSpPr txBox="1"/>
          <p:nvPr/>
        </p:nvSpPr>
        <p:spPr>
          <a:xfrm>
            <a:off x="1051560" y="3017520"/>
            <a:ext cx="17373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Exclusão da conta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8"/>
          <p:cNvSpPr txBox="1"/>
          <p:nvPr/>
        </p:nvSpPr>
        <p:spPr>
          <a:xfrm>
            <a:off x="2834640" y="3017520"/>
            <a:ext cx="585216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CT-USR-11-12: bloqueio para aluno; remoção por admin.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8"/>
          <p:cNvSpPr txBox="1"/>
          <p:nvPr>
            <p:ph idx="4294967295" type="sldNum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0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000">
              <a:solidFill>
                <a:schemeClr val="accent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8"/>
          <p:cNvSpPr txBox="1"/>
          <p:nvPr>
            <p:ph type="title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chemeClr val="dk2"/>
                </a:solidFill>
              </a:rPr>
              <a:t>UserService: 12 casos manuais aprovados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lidade de Software">
  <a:themeElements>
    <a:clrScheme name="Qualidade de Software">
      <a:dk1>
        <a:srgbClr val="16222E"/>
      </a:dk1>
      <a:lt1>
        <a:srgbClr val="FFFFFF"/>
      </a:lt1>
      <a:dk2>
        <a:srgbClr val="0F4C5C"/>
      </a:dk2>
      <a:lt2>
        <a:srgbClr val="EEF3F5"/>
      </a:lt2>
      <a:accent1>
        <a:srgbClr val="0F8B8D"/>
      </a:accent1>
      <a:accent2>
        <a:srgbClr val="E4572E"/>
      </a:accent2>
      <a:accent3>
        <a:srgbClr val="2E9E6B"/>
      </a:accent3>
      <a:accent4>
        <a:srgbClr val="F2B134"/>
      </a:accent4>
      <a:accent5>
        <a:srgbClr val="5B7C99"/>
      </a:accent5>
      <a:accent6>
        <a:srgbClr val="A8C5D1"/>
      </a:accent6>
      <a:hlink>
        <a:srgbClr val="0F8B8D"/>
      </a:hlink>
      <a:folHlink>
        <a:srgbClr val="5B7C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alidade de Software">
  <a:themeElements>
    <a:clrScheme name="Qualidade de Software">
      <a:dk1>
        <a:srgbClr val="16222E"/>
      </a:dk1>
      <a:lt1>
        <a:srgbClr val="FFFFFF"/>
      </a:lt1>
      <a:dk2>
        <a:srgbClr val="0F4C5C"/>
      </a:dk2>
      <a:lt2>
        <a:srgbClr val="EEF3F5"/>
      </a:lt2>
      <a:accent1>
        <a:srgbClr val="0F8B8D"/>
      </a:accent1>
      <a:accent2>
        <a:srgbClr val="E4572E"/>
      </a:accent2>
      <a:accent3>
        <a:srgbClr val="2E9E6B"/>
      </a:accent3>
      <a:accent4>
        <a:srgbClr val="F2B134"/>
      </a:accent4>
      <a:accent5>
        <a:srgbClr val="5B7C99"/>
      </a:accent5>
      <a:accent6>
        <a:srgbClr val="A8C5D1"/>
      </a:accent6>
      <a:hlink>
        <a:srgbClr val="0F8B8D"/>
      </a:hlink>
      <a:folHlink>
        <a:srgbClr val="5B7C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