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30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c5532b35-e9d7-7a58-6d56-d8781ef8e2ec}">
          <p14:sldIdLst>
            <p14:sldId id="256"/>
            <p14:sldId id="257"/>
            <p14:sldId id="258"/>
          </p14:sldIdLst>
        </p14:section>
        <p14:section name="Complexidade" id="{535919c2-29db-ff7d-89c3-48b5293ac474}">
          <p14:sldIdLst>
            <p14:sldId id="259"/>
            <p14:sldId id="260"/>
            <p14:sldId id="261"/>
            <p14:sldId id="262"/>
            <p14:sldId id="263"/>
          </p14:sldIdLst>
        </p14:section>
        <p14:section name="Testes unitários" id="{928ae585-c318-89e8-95ff-b3a960ce8102}">
          <p14:sldIdLst>
            <p14:sldId id="264"/>
            <p14:sldId id="265"/>
            <p14:sldId id="266"/>
            <p14:sldId id="267"/>
            <p14:sldId id="268"/>
          </p14:sldIdLst>
        </p14:section>
        <p14:section name="Testes manuais" id="{6b8789fa-e53c-3527-67f1-48026dfd3f97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Defeitos" id="{c1b865aa-8019-7bb6-17c8-16c84bf89aff}">
          <p14:sldIdLst>
            <p14:sldId id="276"/>
            <p14:sldId id="277"/>
          </p14:sldIdLst>
        </p14:section>
        <p14:section name="Fechamento" id="{2348b3dd-739a-f99d-c8c6-40c9da3127c1}">
          <p14:sldIdLst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22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6222E"/>
                </a:solidFill>
                <a:latin typeface="+mn-lt"/>
              </a:rPr>
              <a:t>O que compõe os 13 pontos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Pontos de decisão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2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Base do método</c:v>
                  </c:pt>
                  <c:pt idx="1">
                    <c:v>Usuário inscrito</c:v>
                  </c:pt>
                  <c:pt idx="2">
                    <c:v>Disciplina encontrada</c:v>
                  </c:pt>
                  <c:pt idx="3">
                    <c:v>Laço dos módulos</c:v>
                  </c:pt>
                  <c:pt idx="4">
                    <c:v>Busca da disciplina</c:v>
                  </c:pt>
                  <c:pt idx="5">
                    <c:v>Lista de usuários</c:v>
                  </c:pt>
                  <c:pt idx="6">
                    <c:v>Práticas do aluno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2</c:v>
                </c:pt>
                <c:pt idx="6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22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2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22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6222E"/>
                </a:solidFill>
                <a:latin typeface="+mn-lt"/>
              </a:rPr>
              <a:t>O que compõe os 13 pontos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Pontos de decisão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2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Base do método</c:v>
                  </c:pt>
                  <c:pt idx="1">
                    <c:v>Save e Delete</c:v>
                  </c:pt>
                  <c:pt idx="2">
                    <c:v>Usuário e curso</c:v>
                  </c:pt>
                  <c:pt idx="3">
                    <c:v>Laços de limpeza</c:v>
                  </c:pt>
                  <c:pt idx="4">
                    <c:v>Campos vazios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3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22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2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22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6222E"/>
                </a:solidFill>
                <a:latin typeface="+mn-lt"/>
              </a:rPr>
              <a:t>O que compõe os 16 pontos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Pontos de decisão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2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Base do método</c:v>
                  </c:pt>
                  <c:pt idx="1">
                    <c:v>Cadastro aceito</c:v>
                  </c:pt>
                  <c:pt idx="2">
                    <c:v>E-mail inválido</c:v>
                  </c:pt>
                  <c:pt idx="3">
                    <c:v>Duplicidade</c:v>
                  </c:pt>
                  <c:pt idx="4">
                    <c:v>Campos vazios</c:v>
                  </c:pt>
                  <c:pt idx="5">
                    <c:v>Regras da senha</c:v>
                  </c:pt>
                  <c:pt idx="6">
                    <c:v>Regras do nome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3</c:v>
                </c:pt>
                <c:pt idx="5">
                  <c:v>4</c:v>
                </c:pt>
                <c:pt idx="6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22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2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22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6222E"/>
                </a:solidFill>
                <a:latin typeface="+mn-lt"/>
              </a:rPr>
              <a:t>O que compõe os 28 pontos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Pontos de decisão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2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Base do método</c:v>
                  </c:pt>
                  <c:pt idx="1">
                    <c:v>Usuário existe</c:v>
                  </c:pt>
                  <c:pt idx="2">
                    <c:v>E-mail</c:v>
                  </c:pt>
                  <c:pt idx="3">
                    <c:v>Senha</c:v>
                  </c:pt>
                  <c:pt idx="4">
                    <c:v>Nome de usuário</c:v>
                  </c:pt>
                  <c:pt idx="5">
                    <c:v>Nome e sobrenome</c:v>
                  </c:pt>
                  <c:pt idx="6">
                    <c:v>Outros 6 campos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  <c:pt idx="4">
                  <c:v>4</c:v>
                </c:pt>
                <c:pt idx="5">
                  <c:v>6</c:v>
                </c:pt>
                <c:pt idx="6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22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2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22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6222E"/>
                </a:solidFill>
                <a:latin typeface="+mn-lt"/>
              </a:rPr>
              <a:t>O que compõe os 11 pontos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Pontos de decisão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2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Base do método</c:v>
                  </c:pt>
                  <c:pt idx="1">
                    <c:v>Visitante</c:v>
                  </c:pt>
                  <c:pt idx="2">
                    <c:v>Mensagens</c:v>
                  </c:pt>
                  <c:pt idx="3">
                    <c:v>Listas vazias</c:v>
                  </c:pt>
                  <c:pt idx="4">
                    <c:v>Laços de busca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22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2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Passou</c:v>
                </c:pt>
              </c:strCache>
            </c:strRef>
          </c:tx>
          <c:spPr>
            <a:solidFill>
              <a:srgbClr val="2E9E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Modificar curso</c:v>
                  </c:pt>
                  <c:pt idx="1">
                    <c:v>Práticas (Moodle)</c:v>
                  </c:pt>
                  <c:pt idx="2">
                    <c:v>Inscrição em curso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9</c:v>
                </c:pt>
                <c:pt idx="2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Falhou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Modificar curso</c:v>
                  </c:pt>
                  <c:pt idx="1">
                    <c:v>Práticas (Moodle)</c:v>
                  </c:pt>
                  <c:pt idx="2">
                    <c:v>Inscrição em curso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4</c:v>
                </c:pt>
                <c:pt idx="2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2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16222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Entrega 1 de COS482. Complexidade dos métodos, testes unitários, testes manuais e defeitos encontrados.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96 testes vêm da soma por classe: Moodle 29, Admin 21, SignUp 14, UserService 14, CourseInformation 18. Os 32 casos manuais são 13 (práticas) + 10 (modificar curso) + 9 (inscrição).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CC = complexidade ciclomática; o mínimo exigido é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MoodleController.allCourses (Gabriella Lima). Contagem manual: cada if, laço, else if, &amp;&amp; e || soma 1, mais 1 do método.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AdminController.modifyCourse (Beatriz Farias). Contagem manual: cada if, laço, else if, &amp;&amp; e || soma 1, mais 1 do método.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SignUpController.registered (Rayana Oliveira). Contagem manual: cada if, laço, else if, &amp;&amp; e || soma 1, mais 1 do método.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UserService.updateUser (Thomas Cardoso). Contagem manual: cada if, laço, else if, &amp;&amp; e || soma 1, mais 1 do método.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CourseInformationController.addCourseToUser (Giulia Cadorin). Contagem manual: cada if, laço, else if, &amp;&amp; e || soma 1, mais 1 do método.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MoodleControllerTest (Gabriella Lima): testes com JUnit 5 e Mockito, com repositórios e services mockados.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AdminControllerTest (Beatriz Farias): testes com JUnit 5 e Mockito, com repositórios e services mockados.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SignUpControllerTest (Rayana Oliveira): testes com JUnit 5 e Mockito, com repositórios e services mockados.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UserServiceTest (Thomas Cardoso): testes com JUnit 5 e Mockito, com repositórios e services mockados.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CourseInformationControllerTest (Giulia Cadorin): testes com JUnit 5 e Mockito, com repositórios e services mockados.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Modificar curso: 9 passaram e 1 falhou. Práticas: 9 passaram (2 com ressalva) e 4 falharam. Inscrição: 6 passaram e 3 falharam.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CT-MOD-09 falhou no passo 6: abrir a página do curso excluído devolve erro 500 em vez de 404.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falhas viraram issues: nota sem validação de faixa (CT-08 e CT-09), entrega sem arquivo (CT-11) e correção alterável (CT-12).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falhas: erro 500 em curso inexistente, aviso compartilhado entre usuários e datas com mês 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nove defeitos estão nas issues do repositório. As falhas dos casos CT-08 a CT-12 e os NPEs foram reproduzidos em execução.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causa do 500 e das datas vem da leitura do código; o stack trace do 500 de /course ainda deve ser anexado à issue.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Prazo da Entrega 2: 06/12/2026.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92608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Qualidade de Software - parte 1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9260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Testes unitários e manuais do AMICOurses (COS482-webapp-2)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Entrega 1 em números</a:t>
            </a:r>
            <a:endParaRPr lang="en-US" sz="3000" dirty="0"/>
          </a:p>
        </p:txBody>
      </p:sp>
      <p:sp>
        <p:nvSpPr>
          <p:cNvPr id="4" name="Cartão testes unitários"/>
          <p:cNvSpPr/>
          <p:nvPr/>
        </p:nvSpPr>
        <p:spPr>
          <a:xfrm>
            <a:off x="457200" y="1280160"/>
            <a:ext cx="1920240" cy="31089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5" name="Número testes unitários"/>
          <p:cNvSpPr txBox="1"/>
          <p:nvPr/>
        </p:nvSpPr>
        <p:spPr>
          <a:xfrm>
            <a:off x="594360" y="14630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107</a:t>
            </a:r>
            <a:endParaRPr lang="en-US" sz="5400" dirty="0"/>
          </a:p>
        </p:txBody>
      </p:sp>
      <p:sp>
        <p:nvSpPr>
          <p:cNvPr id="6" name="Rótulo testes unitários"/>
          <p:cNvSpPr txBox="1"/>
          <p:nvPr/>
        </p:nvSpPr>
        <p:spPr>
          <a:xfrm>
            <a:off x="594360" y="2468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testes unitários</a:t>
            </a:r>
            <a:endParaRPr lang="en-US" sz="1600" dirty="0"/>
          </a:p>
        </p:txBody>
      </p:sp>
      <p:sp>
        <p:nvSpPr>
          <p:cNvPr id="7" name="Detalhe testes unitários"/>
          <p:cNvSpPr txBox="1"/>
          <p:nvPr/>
        </p:nvSpPr>
        <p:spPr>
          <a:xfrm>
            <a:off x="594360" y="3063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JUnit 5 + Mockito, todos sem falhas</a:t>
            </a:r>
            <a:endParaRPr lang="en-US" sz="1400" dirty="0"/>
          </a:p>
        </p:txBody>
      </p:sp>
      <p:sp>
        <p:nvSpPr>
          <p:cNvPr id="8" name="Cartão métodos analisados"/>
          <p:cNvSpPr/>
          <p:nvPr/>
        </p:nvSpPr>
        <p:spPr>
          <a:xfrm>
            <a:off x="2560320" y="1280160"/>
            <a:ext cx="1920240" cy="31089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9" name="Número métodos analisados"/>
          <p:cNvSpPr txBox="1"/>
          <p:nvPr/>
        </p:nvSpPr>
        <p:spPr>
          <a:xfrm>
            <a:off x="2697480" y="14630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10" name="Rótulo métodos analisados"/>
          <p:cNvSpPr txBox="1"/>
          <p:nvPr/>
        </p:nvSpPr>
        <p:spPr>
          <a:xfrm>
            <a:off x="2697480" y="2468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métodos analisados</a:t>
            </a:r>
            <a:endParaRPr lang="en-US" sz="1600" dirty="0"/>
          </a:p>
        </p:txBody>
      </p:sp>
      <p:sp>
        <p:nvSpPr>
          <p:cNvPr id="11" name="Detalhe métodos analisados"/>
          <p:cNvSpPr txBox="1"/>
          <p:nvPr/>
        </p:nvSpPr>
        <p:spPr>
          <a:xfrm>
            <a:off x="2697480" y="3063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complexidade ciclomática de 11 a 28</a:t>
            </a:r>
            <a:endParaRPr lang="en-US" sz="1400" dirty="0"/>
          </a:p>
        </p:txBody>
      </p:sp>
      <p:sp>
        <p:nvSpPr>
          <p:cNvPr id="12" name="Cartão casos manuais"/>
          <p:cNvSpPr/>
          <p:nvPr/>
        </p:nvSpPr>
        <p:spPr>
          <a:xfrm>
            <a:off x="4663440" y="1280160"/>
            <a:ext cx="1920240" cy="31089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3" name="Número casos manuais"/>
          <p:cNvSpPr txBox="1"/>
          <p:nvPr/>
        </p:nvSpPr>
        <p:spPr>
          <a:xfrm>
            <a:off x="4800600" y="14630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5400" dirty="0"/>
          </a:p>
        </p:txBody>
      </p:sp>
      <p:sp>
        <p:nvSpPr>
          <p:cNvPr id="14" name="Rótulo casos manuais"/>
          <p:cNvSpPr txBox="1"/>
          <p:nvPr/>
        </p:nvSpPr>
        <p:spPr>
          <a:xfrm>
            <a:off x="4800600" y="2468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casos manuais</a:t>
            </a:r>
            <a:endParaRPr lang="en-US" sz="1600" dirty="0"/>
          </a:p>
        </p:txBody>
      </p:sp>
      <p:sp>
        <p:nvSpPr>
          <p:cNvPr id="15" name="Detalhe casos manuais"/>
          <p:cNvSpPr txBox="1"/>
          <p:nvPr/>
        </p:nvSpPr>
        <p:spPr>
          <a:xfrm>
            <a:off x="4800600" y="3063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36 passaram e 8 falharam, em 4 funcionalidades</a:t>
            </a:r>
            <a:endParaRPr lang="en-US" sz="1400" dirty="0"/>
          </a:p>
        </p:txBody>
      </p:sp>
      <p:sp>
        <p:nvSpPr>
          <p:cNvPr id="16" name="Cartão defeitos encontrados"/>
          <p:cNvSpPr/>
          <p:nvPr/>
        </p:nvSpPr>
        <p:spPr>
          <a:xfrm>
            <a:off x="6766560" y="1280160"/>
            <a:ext cx="1920240" cy="31089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7" name="Número defeitos encontrados"/>
          <p:cNvSpPr txBox="1"/>
          <p:nvPr/>
        </p:nvSpPr>
        <p:spPr>
          <a:xfrm>
            <a:off x="6903720" y="14630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400" dirty="0"/>
          </a:p>
        </p:txBody>
      </p:sp>
      <p:sp>
        <p:nvSpPr>
          <p:cNvPr id="18" name="Rótulo defeitos encontrados"/>
          <p:cNvSpPr txBox="1"/>
          <p:nvPr/>
        </p:nvSpPr>
        <p:spPr>
          <a:xfrm>
            <a:off x="6903720" y="2468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defeitos encontrados</a:t>
            </a:r>
            <a:endParaRPr lang="en-US" sz="1600" dirty="0"/>
          </a:p>
        </p:txBody>
      </p:sp>
      <p:sp>
        <p:nvSpPr>
          <p:cNvPr id="19" name="Detalhe defeitos encontrados"/>
          <p:cNvSpPr txBox="1"/>
          <p:nvPr/>
        </p:nvSpPr>
        <p:spPr>
          <a:xfrm>
            <a:off x="6903720" y="3063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9 no Moodle, 3 na inscrição e 1 em curso excluído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Métodos analisados por integrante</a:t>
            </a:r>
            <a:endParaRPr lang="en-US" sz="3000" dirty="0"/>
          </a:p>
        </p:txBody>
      </p:sp>
      <p:graphicFrame>
        <p:nvGraphicFramePr>
          <p:cNvPr id="4" name="Tabela de classes testad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828800"/>
                <a:gridCol w="640080"/>
                <a:gridCol w="822960"/>
                <a:gridCol w="21031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Classe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Método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CC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Testes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Responsável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MoodleController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allCourses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13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29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Gabriella Lima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AdminController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modifyCourse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13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21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Beatriz Farias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SignUpController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registered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16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14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Rayana Oliveira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UserService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updateUser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28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14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Thomas Cardoso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CourseInformationController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addCourseToUser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11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18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Giulia Cadorin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Nota de rodapé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Requisito: JDK 8 (o Mockito antigo quebra em versões mais novas).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allCourses: complexidade 13</a:t>
            </a:r>
            <a:endParaRPr lang="en-US" sz="3000" dirty="0"/>
          </a:p>
        </p:txBody>
      </p:sp>
      <p:sp>
        <p:nvSpPr>
          <p:cNvPr id="4" name="Cartão CC allCourses"/>
          <p:cNvSpPr/>
          <p:nvPr/>
        </p:nvSpPr>
        <p:spPr>
          <a:xfrm>
            <a:off x="457200" y="1280160"/>
            <a:ext cx="256032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C valor allCourses"/>
          <p:cNvSpPr txBox="1"/>
          <p:nvPr/>
        </p:nvSpPr>
        <p:spPr>
          <a:xfrm>
            <a:off x="594360" y="14173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7200" dirty="0"/>
          </a:p>
        </p:txBody>
      </p:sp>
      <p:sp>
        <p:nvSpPr>
          <p:cNvPr id="6" name="Classe allCourses"/>
          <p:cNvSpPr txBox="1"/>
          <p:nvPr/>
        </p:nvSpPr>
        <p:spPr>
          <a:xfrm>
            <a:off x="594360" y="2560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MoodleController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Gabriella Lima</a:t>
            </a:r>
            <a:endParaRPr lang="en-US" sz="1400" dirty="0"/>
          </a:p>
        </p:txBody>
      </p:sp>
      <p:sp>
        <p:nvSpPr>
          <p:cNvPr id="7" name="Nota allCourses"/>
          <p:cNvSpPr txBox="1"/>
          <p:nvPr/>
        </p:nvSpPr>
        <p:spPr>
          <a:xfrm>
            <a:off x="594360" y="33375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Maior peso: o tratamento das práticas do aluno (5 de 13).</a:t>
            </a:r>
            <a:endParaRPr lang="en-US" sz="1400" dirty="0"/>
          </a:p>
        </p:txBody>
      </p:sp>
      <p:graphicFrame>
        <p:nvGraphicFramePr>
          <p:cNvPr id="8" name="Gráfico de decisões allCourses" descr=""/>
          <p:cNvGraphicFramePr/>
          <p:nvPr/>
        </p:nvGraphicFramePr>
        <p:xfrm>
          <a:off x="3291840" y="1188720"/>
          <a:ext cx="53949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modifyCourse: complexidade 13</a:t>
            </a:r>
            <a:endParaRPr lang="en-US" sz="3000" dirty="0"/>
          </a:p>
        </p:txBody>
      </p:sp>
      <p:sp>
        <p:nvSpPr>
          <p:cNvPr id="4" name="Cartão CC modifyCourse"/>
          <p:cNvSpPr/>
          <p:nvPr/>
        </p:nvSpPr>
        <p:spPr>
          <a:xfrm>
            <a:off x="457200" y="1280160"/>
            <a:ext cx="256032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C valor modifyCourse"/>
          <p:cNvSpPr txBox="1"/>
          <p:nvPr/>
        </p:nvSpPr>
        <p:spPr>
          <a:xfrm>
            <a:off x="594360" y="14173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7200" dirty="0"/>
          </a:p>
        </p:txBody>
      </p:sp>
      <p:sp>
        <p:nvSpPr>
          <p:cNvPr id="6" name="Classe modifyCourse"/>
          <p:cNvSpPr txBox="1"/>
          <p:nvPr/>
        </p:nvSpPr>
        <p:spPr>
          <a:xfrm>
            <a:off x="594360" y="2560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AdminController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Beatriz Farias</a:t>
            </a:r>
            <a:endParaRPr lang="en-US" sz="1400" dirty="0"/>
          </a:p>
        </p:txBody>
      </p:sp>
      <p:sp>
        <p:nvSpPr>
          <p:cNvPr id="7" name="Nota modifyCourse"/>
          <p:cNvSpPr txBox="1"/>
          <p:nvPr/>
        </p:nvSpPr>
        <p:spPr>
          <a:xfrm>
            <a:off x="594360" y="33375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Candidato a dividir em saveCourse e deleteCourse.</a:t>
            </a:r>
            <a:endParaRPr lang="en-US" sz="1400" dirty="0"/>
          </a:p>
        </p:txBody>
      </p:sp>
      <p:graphicFrame>
        <p:nvGraphicFramePr>
          <p:cNvPr id="8" name="Gráfico de decisões modifyCourse" descr=""/>
          <p:cNvGraphicFramePr/>
          <p:nvPr/>
        </p:nvGraphicFramePr>
        <p:xfrm>
          <a:off x="3291840" y="1188720"/>
          <a:ext cx="53949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registered: complexidade 16</a:t>
            </a:r>
            <a:endParaRPr lang="en-US" sz="3000" dirty="0"/>
          </a:p>
        </p:txBody>
      </p:sp>
      <p:sp>
        <p:nvSpPr>
          <p:cNvPr id="4" name="Cartão CC registered"/>
          <p:cNvSpPr/>
          <p:nvPr/>
        </p:nvSpPr>
        <p:spPr>
          <a:xfrm>
            <a:off x="457200" y="1280160"/>
            <a:ext cx="256032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C valor registered"/>
          <p:cNvSpPr txBox="1"/>
          <p:nvPr/>
        </p:nvSpPr>
        <p:spPr>
          <a:xfrm>
            <a:off x="594360" y="14173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7200" dirty="0"/>
          </a:p>
        </p:txBody>
      </p:sp>
      <p:sp>
        <p:nvSpPr>
          <p:cNvPr id="6" name="Classe registered"/>
          <p:cNvSpPr txBox="1"/>
          <p:nvPr/>
        </p:nvSpPr>
        <p:spPr>
          <a:xfrm>
            <a:off x="594360" y="2560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SignUpController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Rayana Oliveira</a:t>
            </a:r>
            <a:endParaRPr lang="en-US" sz="1400" dirty="0"/>
          </a:p>
        </p:txBody>
      </p:sp>
      <p:sp>
        <p:nvSpPr>
          <p:cNvPr id="7" name="Nota registered"/>
          <p:cNvSpPr txBox="1"/>
          <p:nvPr/>
        </p:nvSpPr>
        <p:spPr>
          <a:xfrm>
            <a:off x="594360" y="33375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Cadeia de validações: cada regra de senha e de nome vira um desvio.</a:t>
            </a:r>
            <a:endParaRPr lang="en-US" sz="1400" dirty="0"/>
          </a:p>
        </p:txBody>
      </p:sp>
      <p:graphicFrame>
        <p:nvGraphicFramePr>
          <p:cNvPr id="8" name="Gráfico de decisões registered" descr=""/>
          <p:cNvGraphicFramePr/>
          <p:nvPr/>
        </p:nvGraphicFramePr>
        <p:xfrm>
          <a:off x="3291840" y="1188720"/>
          <a:ext cx="53949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updateUser: complexidade 28</a:t>
            </a:r>
            <a:endParaRPr lang="en-US" sz="3000" dirty="0"/>
          </a:p>
        </p:txBody>
      </p:sp>
      <p:sp>
        <p:nvSpPr>
          <p:cNvPr id="4" name="Cartão CC updateUser"/>
          <p:cNvSpPr/>
          <p:nvPr/>
        </p:nvSpPr>
        <p:spPr>
          <a:xfrm>
            <a:off x="457200" y="1280160"/>
            <a:ext cx="256032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C valor updateUser"/>
          <p:cNvSpPr txBox="1"/>
          <p:nvPr/>
        </p:nvSpPr>
        <p:spPr>
          <a:xfrm>
            <a:off x="594360" y="14173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7200" dirty="0"/>
          </a:p>
        </p:txBody>
      </p:sp>
      <p:sp>
        <p:nvSpPr>
          <p:cNvPr id="6" name="Classe updateUser"/>
          <p:cNvSpPr txBox="1"/>
          <p:nvPr/>
        </p:nvSpPr>
        <p:spPr>
          <a:xfrm>
            <a:off x="594360" y="2560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UserService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Thomas Cardoso</a:t>
            </a:r>
            <a:endParaRPr lang="en-US" sz="1400" dirty="0"/>
          </a:p>
        </p:txBody>
      </p:sp>
      <p:sp>
        <p:nvSpPr>
          <p:cNvPr id="7" name="Nota updateUser"/>
          <p:cNvSpPr txBox="1"/>
          <p:nvPr/>
        </p:nvSpPr>
        <p:spPr>
          <a:xfrm>
            <a:off x="594360" y="33375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Atualiza campos do perfil com regras por campo; valores inválidos não sobrescrevem dados.</a:t>
            </a:r>
            <a:endParaRPr lang="en-US" sz="1400" dirty="0"/>
          </a:p>
        </p:txBody>
      </p:sp>
      <p:graphicFrame>
        <p:nvGraphicFramePr>
          <p:cNvPr id="8" name="Gráfico de decisões updateUser" descr=""/>
          <p:cNvGraphicFramePr/>
          <p:nvPr/>
        </p:nvGraphicFramePr>
        <p:xfrm>
          <a:off x="3291840" y="1188720"/>
          <a:ext cx="53949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addCourseToUser: complexidade 11</a:t>
            </a:r>
            <a:endParaRPr lang="en-US" sz="3000" dirty="0"/>
          </a:p>
        </p:txBody>
      </p:sp>
      <p:sp>
        <p:nvSpPr>
          <p:cNvPr id="4" name="Cartão CC addCourseToUser"/>
          <p:cNvSpPr/>
          <p:nvPr/>
        </p:nvSpPr>
        <p:spPr>
          <a:xfrm>
            <a:off x="457200" y="1280160"/>
            <a:ext cx="256032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C valor addCourseToUser"/>
          <p:cNvSpPr txBox="1"/>
          <p:nvPr/>
        </p:nvSpPr>
        <p:spPr>
          <a:xfrm>
            <a:off x="594360" y="14173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7200" dirty="0"/>
          </a:p>
        </p:txBody>
      </p:sp>
      <p:sp>
        <p:nvSpPr>
          <p:cNvPr id="6" name="Classe addCourseToUser"/>
          <p:cNvSpPr txBox="1"/>
          <p:nvPr/>
        </p:nvSpPr>
        <p:spPr>
          <a:xfrm>
            <a:off x="594360" y="2560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CourseInformationController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Giulia Cadorin</a:t>
            </a:r>
            <a:endParaRPr lang="en-US" sz="1400" dirty="0"/>
          </a:p>
        </p:txBody>
      </p:sp>
      <p:sp>
        <p:nvSpPr>
          <p:cNvPr id="7" name="Nota addCourseToUser"/>
          <p:cNvSpPr txBox="1"/>
          <p:nvPr/>
        </p:nvSpPr>
        <p:spPr>
          <a:xfrm>
            <a:off x="594360" y="33375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Os dois laços de busca com &amp;&amp; concentram 4 dos 11 pontos.</a:t>
            </a:r>
            <a:endParaRPr lang="en-US" sz="1400" dirty="0"/>
          </a:p>
        </p:txBody>
      </p:sp>
      <p:graphicFrame>
        <p:nvGraphicFramePr>
          <p:cNvPr id="8" name="Gráfico de decisões addCourseToUser" descr=""/>
          <p:cNvGraphicFramePr/>
          <p:nvPr/>
        </p:nvGraphicFramePr>
        <p:xfrm>
          <a:off x="3291840" y="1188720"/>
          <a:ext cx="53949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MoodleControllerTest: 29 testes</a:t>
            </a:r>
            <a:endParaRPr lang="en-US" sz="3000" dirty="0"/>
          </a:p>
        </p:txBody>
      </p:sp>
      <p:sp>
        <p:nvSpPr>
          <p:cNvPr id="4" name="Grupo allCourses círculo"/>
          <p:cNvSpPr/>
          <p:nvPr/>
        </p:nvSpPr>
        <p:spPr>
          <a:xfrm>
            <a:off x="457200" y="1133856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5" name="Grupo allCourses número"/>
          <p:cNvSpPr txBox="1"/>
          <p:nvPr/>
        </p:nvSpPr>
        <p:spPr>
          <a:xfrm>
            <a:off x="457200" y="1133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6" name="Nome allCourses"/>
          <p:cNvSpPr txBox="1"/>
          <p:nvPr/>
        </p:nvSpPr>
        <p:spPr>
          <a:xfrm>
            <a:off x="1051560" y="10972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allCourses</a:t>
            </a:r>
            <a:endParaRPr lang="en-US" sz="1400" dirty="0"/>
          </a:p>
        </p:txBody>
      </p:sp>
      <p:sp>
        <p:nvSpPr>
          <p:cNvPr id="7" name="Descrição allCourses"/>
          <p:cNvSpPr txBox="1"/>
          <p:nvPr/>
        </p:nvSpPr>
        <p:spPr>
          <a:xfrm>
            <a:off x="2834640" y="1097280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visões de aluno e professor, não inscrito, curso ou disciplina inexistente (NPE)</a:t>
            </a:r>
            <a:endParaRPr lang="en-US" sz="1400" dirty="0"/>
          </a:p>
        </p:txBody>
      </p:sp>
      <p:sp>
        <p:nvSpPr>
          <p:cNvPr id="8" name="Grupo moduleAction círculo"/>
          <p:cNvSpPr/>
          <p:nvPr/>
        </p:nvSpPr>
        <p:spPr>
          <a:xfrm>
            <a:off x="457200" y="1664208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9" name="Grupo moduleAction número"/>
          <p:cNvSpPr txBox="1"/>
          <p:nvPr/>
        </p:nvSpPr>
        <p:spPr>
          <a:xfrm>
            <a:off x="457200" y="1664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10" name="Nome moduleAction"/>
          <p:cNvSpPr txBox="1"/>
          <p:nvPr/>
        </p:nvSpPr>
        <p:spPr>
          <a:xfrm>
            <a:off x="1051560" y="162763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moduleAction</a:t>
            </a:r>
            <a:endParaRPr lang="en-US" sz="1400" dirty="0"/>
          </a:p>
        </p:txBody>
      </p:sp>
      <p:sp>
        <p:nvSpPr>
          <p:cNvPr id="11" name="Descrição moduleAction"/>
          <p:cNvSpPr txBox="1"/>
          <p:nvPr/>
        </p:nvSpPr>
        <p:spPr>
          <a:xfrm>
            <a:off x="2834640" y="1627632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professor adiciona e exclui módulo; aluno, visitante e opção inválida não alteram</a:t>
            </a:r>
            <a:endParaRPr lang="en-US" sz="1400" dirty="0"/>
          </a:p>
        </p:txBody>
      </p:sp>
      <p:sp>
        <p:nvSpPr>
          <p:cNvPr id="12" name="Grupo uploadStudyItem círculo"/>
          <p:cNvSpPr/>
          <p:nvPr/>
        </p:nvSpPr>
        <p:spPr>
          <a:xfrm>
            <a:off x="457200" y="2194560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3" name="Grupo uploadStudyItem número"/>
          <p:cNvSpPr txBox="1"/>
          <p:nvPr/>
        </p:nvSpPr>
        <p:spPr>
          <a:xfrm>
            <a:off x="457200" y="2194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Nome uploadStudyItem"/>
          <p:cNvSpPr txBox="1"/>
          <p:nvPr/>
        </p:nvSpPr>
        <p:spPr>
          <a:xfrm>
            <a:off x="1051560" y="215798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uploadStudyItem</a:t>
            </a:r>
            <a:endParaRPr lang="en-US" sz="1400" dirty="0"/>
          </a:p>
        </p:txBody>
      </p:sp>
      <p:sp>
        <p:nvSpPr>
          <p:cNvPr id="15" name="Descrição uploadStudyItem"/>
          <p:cNvSpPr txBox="1"/>
          <p:nvPr/>
        </p:nvSpPr>
        <p:spPr>
          <a:xfrm>
            <a:off x="2834640" y="2157984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professor envia arquivo; nome vazio, aluno e visitante (NPE) não conseguem</a:t>
            </a:r>
            <a:endParaRPr lang="en-US" sz="1400" dirty="0"/>
          </a:p>
        </p:txBody>
      </p:sp>
      <p:sp>
        <p:nvSpPr>
          <p:cNvPr id="16" name="Grupo download círculo"/>
          <p:cNvSpPr/>
          <p:nvPr/>
        </p:nvSpPr>
        <p:spPr>
          <a:xfrm>
            <a:off x="457200" y="2724912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Grupo download número"/>
          <p:cNvSpPr txBox="1"/>
          <p:nvPr/>
        </p:nvSpPr>
        <p:spPr>
          <a:xfrm>
            <a:off x="457200" y="2724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Nome download"/>
          <p:cNvSpPr txBox="1"/>
          <p:nvPr/>
        </p:nvSpPr>
        <p:spPr>
          <a:xfrm>
            <a:off x="1051560" y="268833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download</a:t>
            </a:r>
            <a:endParaRPr lang="en-US" sz="1400" dirty="0"/>
          </a:p>
        </p:txBody>
      </p:sp>
      <p:sp>
        <p:nvSpPr>
          <p:cNvPr id="19" name="Descrição download"/>
          <p:cNvSpPr txBox="1"/>
          <p:nvPr/>
        </p:nvSpPr>
        <p:spPr>
          <a:xfrm>
            <a:off x="2834640" y="2688336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aluno baixa item e própria prática; prática alheia e curso inexistente barrados</a:t>
            </a:r>
            <a:endParaRPr lang="en-US" sz="1400" dirty="0"/>
          </a:p>
        </p:txBody>
      </p:sp>
      <p:sp>
        <p:nvSpPr>
          <p:cNvPr id="20" name="Grupo modifyStudyItem círculo"/>
          <p:cNvSpPr/>
          <p:nvPr/>
        </p:nvSpPr>
        <p:spPr>
          <a:xfrm>
            <a:off x="457200" y="3255264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1" name="Grupo modifyStudyItem número"/>
          <p:cNvSpPr txBox="1"/>
          <p:nvPr/>
        </p:nvSpPr>
        <p:spPr>
          <a:xfrm>
            <a:off x="457200" y="3255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Nome modifyStudyItem"/>
          <p:cNvSpPr txBox="1"/>
          <p:nvPr/>
        </p:nvSpPr>
        <p:spPr>
          <a:xfrm>
            <a:off x="1051560" y="321868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modifyStudyItem</a:t>
            </a:r>
            <a:endParaRPr lang="en-US" sz="1400" dirty="0"/>
          </a:p>
        </p:txBody>
      </p:sp>
      <p:sp>
        <p:nvSpPr>
          <p:cNvPr id="23" name="Descrição modifyStudyItem"/>
          <p:cNvSpPr txBox="1"/>
          <p:nvPr/>
        </p:nvSpPr>
        <p:spPr>
          <a:xfrm>
            <a:off x="2834640" y="3218688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salvar atualiza; excluir remove item e submissões; sem botão não muda nada</a:t>
            </a:r>
            <a:endParaRPr lang="en-US" sz="1400" dirty="0"/>
          </a:p>
        </p:txBody>
      </p:sp>
      <p:sp>
        <p:nvSpPr>
          <p:cNvPr id="24" name="Grupo updateCalification círculo"/>
          <p:cNvSpPr/>
          <p:nvPr/>
        </p:nvSpPr>
        <p:spPr>
          <a:xfrm>
            <a:off x="457200" y="3785616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5" name="Grupo updateCalification número"/>
          <p:cNvSpPr txBox="1"/>
          <p:nvPr/>
        </p:nvSpPr>
        <p:spPr>
          <a:xfrm>
            <a:off x="457200" y="3785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6" name="Nome updateCalification"/>
          <p:cNvSpPr txBox="1"/>
          <p:nvPr/>
        </p:nvSpPr>
        <p:spPr>
          <a:xfrm>
            <a:off x="1051560" y="374904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updateCalification</a:t>
            </a:r>
            <a:endParaRPr lang="en-US" sz="1400" dirty="0"/>
          </a:p>
        </p:txBody>
      </p:sp>
      <p:sp>
        <p:nvSpPr>
          <p:cNvPr id="27" name="Descrição updateCalification"/>
          <p:cNvSpPr txBox="1"/>
          <p:nvPr/>
        </p:nvSpPr>
        <p:spPr>
          <a:xfrm>
            <a:off x="2834640" y="3749040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professor lança a nota; aluno não pode</a:t>
            </a:r>
            <a:endParaRPr lang="en-US" sz="1400" dirty="0"/>
          </a:p>
        </p:txBody>
      </p:sp>
      <p:sp>
        <p:nvSpPr>
          <p:cNvPr id="28" name="Grupo modifyPractice círculo"/>
          <p:cNvSpPr/>
          <p:nvPr/>
        </p:nvSpPr>
        <p:spPr>
          <a:xfrm>
            <a:off x="457200" y="4315968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9" name="Grupo modifyPractice número"/>
          <p:cNvSpPr txBox="1"/>
          <p:nvPr/>
        </p:nvSpPr>
        <p:spPr>
          <a:xfrm>
            <a:off x="457200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30" name="Nome modifyPractice"/>
          <p:cNvSpPr txBox="1"/>
          <p:nvPr/>
        </p:nvSpPr>
        <p:spPr>
          <a:xfrm>
            <a:off x="1051560" y="42793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modifyPractice</a:t>
            </a:r>
            <a:endParaRPr lang="en-US" sz="1400" dirty="0"/>
          </a:p>
        </p:txBody>
      </p:sp>
      <p:sp>
        <p:nvSpPr>
          <p:cNvPr id="31" name="Descrição modifyPractice"/>
          <p:cNvSpPr txBox="1"/>
          <p:nvPr/>
        </p:nvSpPr>
        <p:spPr>
          <a:xfrm>
            <a:off x="2834640" y="4279392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aluno renomeia e reenvia; nome vazio e professor não modificam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AdminControllerTest: 21 testes</a:t>
            </a:r>
            <a:endParaRPr lang="en-US" sz="3000" dirty="0"/>
          </a:p>
        </p:txBody>
      </p:sp>
      <p:sp>
        <p:nvSpPr>
          <p:cNvPr id="4" name="Grupo modifyCourse círculo"/>
          <p:cNvSpPr/>
          <p:nvPr/>
        </p:nvSpPr>
        <p:spPr>
          <a:xfrm>
            <a:off x="457200" y="1133856"/>
            <a:ext cx="420624" cy="42062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5" name="Grupo modifyCourse número"/>
          <p:cNvSpPr txBox="1"/>
          <p:nvPr/>
        </p:nvSpPr>
        <p:spPr>
          <a:xfrm>
            <a:off x="457200" y="1133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6" name="Nome modifyCourse"/>
          <p:cNvSpPr txBox="1"/>
          <p:nvPr/>
        </p:nvSpPr>
        <p:spPr>
          <a:xfrm>
            <a:off x="1051560" y="1097280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modifyCourse</a:t>
            </a:r>
            <a:endParaRPr lang="en-US" sz="1400" dirty="0"/>
          </a:p>
        </p:txBody>
      </p:sp>
      <p:sp>
        <p:nvSpPr>
          <p:cNvPr id="7" name="Descrição modifyCourse"/>
          <p:cNvSpPr txBox="1"/>
          <p:nvPr/>
        </p:nvSpPr>
        <p:spPr>
          <a:xfrm>
            <a:off x="2834640" y="109728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salvar, ignorar vazios, renomear muda o internalName, excluir remove vínculos, sem botão, curso inexistente, aluno e visitante</a:t>
            </a:r>
            <a:endParaRPr lang="en-US" sz="1400" dirty="0"/>
          </a:p>
        </p:txBody>
      </p:sp>
      <p:sp>
        <p:nvSpPr>
          <p:cNvPr id="8" name="Grupo createTeacher círculo"/>
          <p:cNvSpPr/>
          <p:nvPr/>
        </p:nvSpPr>
        <p:spPr>
          <a:xfrm>
            <a:off x="457200" y="1773936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9" name="Grupo createTeacher número"/>
          <p:cNvSpPr txBox="1"/>
          <p:nvPr/>
        </p:nvSpPr>
        <p:spPr>
          <a:xfrm>
            <a:off x="457200" y="1773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10" name="Nome createTeacher"/>
          <p:cNvSpPr txBox="1"/>
          <p:nvPr/>
        </p:nvSpPr>
        <p:spPr>
          <a:xfrm>
            <a:off x="1051560" y="1737360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createTeacher</a:t>
            </a:r>
            <a:endParaRPr lang="en-US" sz="1400" dirty="0"/>
          </a:p>
        </p:txBody>
      </p:sp>
      <p:sp>
        <p:nvSpPr>
          <p:cNvPr id="11" name="Descrição createTeacher"/>
          <p:cNvSpPr txBox="1"/>
          <p:nvPr/>
        </p:nvSpPr>
        <p:spPr>
          <a:xfrm>
            <a:off x="2834640" y="173736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senha de 8 a 14 caracteres, usuário e e-mail inválidos ou repetidos, só admin cria</a:t>
            </a:r>
            <a:endParaRPr lang="en-US" sz="1400" dirty="0"/>
          </a:p>
        </p:txBody>
      </p:sp>
      <p:sp>
        <p:nvSpPr>
          <p:cNvPr id="12" name="Grupo createCourse círculo"/>
          <p:cNvSpPr/>
          <p:nvPr/>
        </p:nvSpPr>
        <p:spPr>
          <a:xfrm>
            <a:off x="457200" y="2414016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3" name="Grupo createCourse número"/>
          <p:cNvSpPr txBox="1"/>
          <p:nvPr/>
        </p:nvSpPr>
        <p:spPr>
          <a:xfrm>
            <a:off x="457200" y="2414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Nome createCourse"/>
          <p:cNvSpPr txBox="1"/>
          <p:nvPr/>
        </p:nvSpPr>
        <p:spPr>
          <a:xfrm>
            <a:off x="1051560" y="2377440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createCourse</a:t>
            </a:r>
            <a:endParaRPr lang="en-US" sz="1400" dirty="0"/>
          </a:p>
        </p:txBody>
      </p:sp>
      <p:sp>
        <p:nvSpPr>
          <p:cNvPr id="15" name="Descrição createCourse"/>
          <p:cNvSpPr txBox="1"/>
          <p:nvPr/>
        </p:nvSpPr>
        <p:spPr>
          <a:xfrm>
            <a:off x="2834640" y="237744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chama o serviço; até um aluno consegue criar (comportamento registrado)</a:t>
            </a:r>
            <a:endParaRPr lang="en-US" sz="1400" dirty="0"/>
          </a:p>
        </p:txBody>
      </p:sp>
      <p:sp>
        <p:nvSpPr>
          <p:cNvPr id="16" name="Grupo viewProfile círculo"/>
          <p:cNvSpPr/>
          <p:nvPr/>
        </p:nvSpPr>
        <p:spPr>
          <a:xfrm>
            <a:off x="457200" y="3054096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Grupo viewProfile número"/>
          <p:cNvSpPr txBox="1"/>
          <p:nvPr/>
        </p:nvSpPr>
        <p:spPr>
          <a:xfrm>
            <a:off x="457200" y="3054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Nome viewProfile"/>
          <p:cNvSpPr txBox="1"/>
          <p:nvPr/>
        </p:nvSpPr>
        <p:spPr>
          <a:xfrm>
            <a:off x="1051560" y="3017520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viewProfile</a:t>
            </a:r>
            <a:endParaRPr lang="en-US" sz="1400" dirty="0"/>
          </a:p>
        </p:txBody>
      </p:sp>
      <p:sp>
        <p:nvSpPr>
          <p:cNvPr id="19" name="Descrição viewProfile"/>
          <p:cNvSpPr txBox="1"/>
          <p:nvPr/>
        </p:nvSpPr>
        <p:spPr>
          <a:xfrm>
            <a:off x="2834640" y="301752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admin vê cursos e professores; os demais recebem a página sem dados</a:t>
            </a:r>
            <a:endParaRPr lang="en-US" sz="1400" dirty="0"/>
          </a:p>
        </p:txBody>
      </p:sp>
      <p:sp>
        <p:nvSpPr>
          <p:cNvPr id="20" name="Grupo deleteUser círculo"/>
          <p:cNvSpPr/>
          <p:nvPr/>
        </p:nvSpPr>
        <p:spPr>
          <a:xfrm>
            <a:off x="457200" y="3694176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1" name="Grupo deleteUser número"/>
          <p:cNvSpPr txBox="1"/>
          <p:nvPr/>
        </p:nvSpPr>
        <p:spPr>
          <a:xfrm>
            <a:off x="457200" y="3694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22" name="Nome deleteUser"/>
          <p:cNvSpPr txBox="1"/>
          <p:nvPr/>
        </p:nvSpPr>
        <p:spPr>
          <a:xfrm>
            <a:off x="1051560" y="3657600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deleteUser</a:t>
            </a:r>
            <a:endParaRPr lang="en-US" sz="1400" dirty="0"/>
          </a:p>
        </p:txBody>
      </p:sp>
      <p:sp>
        <p:nvSpPr>
          <p:cNvPr id="23" name="Descrição deleteUser"/>
          <p:cNvSpPr txBox="1"/>
          <p:nvPr/>
        </p:nvSpPr>
        <p:spPr>
          <a:xfrm>
            <a:off x="2834640" y="365760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endpoint ainda não faz nada (registrado em teste)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SignUpControllerTest: 14 testes</a:t>
            </a:r>
            <a:endParaRPr lang="en-US" sz="3000" dirty="0"/>
          </a:p>
        </p:txBody>
      </p:sp>
      <p:sp>
        <p:nvSpPr>
          <p:cNvPr id="4" name="Grupo signup círculo"/>
          <p:cNvSpPr/>
          <p:nvPr/>
        </p:nvSpPr>
        <p:spPr>
          <a:xfrm>
            <a:off x="457200" y="1133856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5" name="Grupo signup número"/>
          <p:cNvSpPr txBox="1"/>
          <p:nvPr/>
        </p:nvSpPr>
        <p:spPr>
          <a:xfrm>
            <a:off x="457200" y="1133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Nome signup"/>
          <p:cNvSpPr txBox="1"/>
          <p:nvPr/>
        </p:nvSpPr>
        <p:spPr>
          <a:xfrm>
            <a:off x="1051560" y="10972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signup</a:t>
            </a:r>
            <a:endParaRPr lang="en-US" sz="1400" dirty="0"/>
          </a:p>
        </p:txBody>
      </p:sp>
      <p:sp>
        <p:nvSpPr>
          <p:cNvPr id="7" name="Descrição signup"/>
          <p:cNvSpPr txBox="1"/>
          <p:nvPr/>
        </p:nvSpPr>
        <p:spPr>
          <a:xfrm>
            <a:off x="2834640" y="1097280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inicializa o modelo e abre a tela de cadastro</a:t>
            </a:r>
            <a:endParaRPr lang="en-US" sz="1400" dirty="0"/>
          </a:p>
        </p:txBody>
      </p:sp>
      <p:sp>
        <p:nvSpPr>
          <p:cNvPr id="8" name="Grupo registered: sucesso círculo"/>
          <p:cNvSpPr/>
          <p:nvPr/>
        </p:nvSpPr>
        <p:spPr>
          <a:xfrm>
            <a:off x="457200" y="1664208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9" name="Grupo registered: sucesso número"/>
          <p:cNvSpPr txBox="1"/>
          <p:nvPr/>
        </p:nvSpPr>
        <p:spPr>
          <a:xfrm>
            <a:off x="457200" y="1664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Nome registered: sucesso"/>
          <p:cNvSpPr txBox="1"/>
          <p:nvPr/>
        </p:nvSpPr>
        <p:spPr>
          <a:xfrm>
            <a:off x="1051560" y="162763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registered: sucesso</a:t>
            </a:r>
            <a:endParaRPr lang="en-US" sz="1400" dirty="0"/>
          </a:p>
        </p:txBody>
      </p:sp>
      <p:sp>
        <p:nvSpPr>
          <p:cNvPr id="11" name="Descrição registered: sucesso"/>
          <p:cNvSpPr txBox="1"/>
          <p:nvPr/>
        </p:nvSpPr>
        <p:spPr>
          <a:xfrm>
            <a:off x="2834640" y="1627632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cadastro válido redireciona para o login</a:t>
            </a:r>
            <a:endParaRPr lang="en-US" sz="1400" dirty="0"/>
          </a:p>
        </p:txBody>
      </p:sp>
      <p:sp>
        <p:nvSpPr>
          <p:cNvPr id="12" name="Grupo campos vazios círculo"/>
          <p:cNvSpPr/>
          <p:nvPr/>
        </p:nvSpPr>
        <p:spPr>
          <a:xfrm>
            <a:off x="457200" y="2194560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3" name="Grupo campos vazios número"/>
          <p:cNvSpPr txBox="1"/>
          <p:nvPr/>
        </p:nvSpPr>
        <p:spPr>
          <a:xfrm>
            <a:off x="457200" y="2194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Nome campos vazios"/>
          <p:cNvSpPr txBox="1"/>
          <p:nvPr/>
        </p:nvSpPr>
        <p:spPr>
          <a:xfrm>
            <a:off x="1051560" y="215798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campos vazios</a:t>
            </a:r>
            <a:endParaRPr lang="en-US" sz="1400" dirty="0"/>
          </a:p>
        </p:txBody>
      </p:sp>
      <p:sp>
        <p:nvSpPr>
          <p:cNvPr id="15" name="Descrição campos vazios"/>
          <p:cNvSpPr txBox="1"/>
          <p:nvPr/>
        </p:nvSpPr>
        <p:spPr>
          <a:xfrm>
            <a:off x="2834640" y="2157984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usuário, senha e e-mail vazios são rejeitados</a:t>
            </a:r>
            <a:endParaRPr lang="en-US" sz="1400" dirty="0"/>
          </a:p>
        </p:txBody>
      </p:sp>
      <p:sp>
        <p:nvSpPr>
          <p:cNvPr id="16" name="Grupo senha círculo"/>
          <p:cNvSpPr/>
          <p:nvPr/>
        </p:nvSpPr>
        <p:spPr>
          <a:xfrm>
            <a:off x="457200" y="2724912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Grupo senha número"/>
          <p:cNvSpPr txBox="1"/>
          <p:nvPr/>
        </p:nvSpPr>
        <p:spPr>
          <a:xfrm>
            <a:off x="457200" y="2724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Nome senha"/>
          <p:cNvSpPr txBox="1"/>
          <p:nvPr/>
        </p:nvSpPr>
        <p:spPr>
          <a:xfrm>
            <a:off x="1051560" y="268833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senha</a:t>
            </a:r>
            <a:endParaRPr lang="en-US" sz="1400" dirty="0"/>
          </a:p>
        </p:txBody>
      </p:sp>
      <p:sp>
        <p:nvSpPr>
          <p:cNvPr id="19" name="Descrição senha"/>
          <p:cNvSpPr txBox="1"/>
          <p:nvPr/>
        </p:nvSpPr>
        <p:spPr>
          <a:xfrm>
            <a:off x="2834640" y="2688336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senhas diferentes, curta demais e longa demais</a:t>
            </a:r>
            <a:endParaRPr lang="en-US" sz="1400" dirty="0"/>
          </a:p>
        </p:txBody>
      </p:sp>
      <p:sp>
        <p:nvSpPr>
          <p:cNvPr id="20" name="Grupo nome de usuário círculo"/>
          <p:cNvSpPr/>
          <p:nvPr/>
        </p:nvSpPr>
        <p:spPr>
          <a:xfrm>
            <a:off x="457200" y="3255264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1" name="Grupo nome de usuário número"/>
          <p:cNvSpPr txBox="1"/>
          <p:nvPr/>
        </p:nvSpPr>
        <p:spPr>
          <a:xfrm>
            <a:off x="457200" y="3255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Nome nome de usuário"/>
          <p:cNvSpPr txBox="1"/>
          <p:nvPr/>
        </p:nvSpPr>
        <p:spPr>
          <a:xfrm>
            <a:off x="1051560" y="321868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nome de usuário</a:t>
            </a:r>
            <a:endParaRPr lang="en-US" sz="1400" dirty="0"/>
          </a:p>
        </p:txBody>
      </p:sp>
      <p:sp>
        <p:nvSpPr>
          <p:cNvPr id="23" name="Descrição nome de usuário"/>
          <p:cNvSpPr txBox="1"/>
          <p:nvPr/>
        </p:nvSpPr>
        <p:spPr>
          <a:xfrm>
            <a:off x="2834640" y="3218688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curto, longo e com caracteres inválidos</a:t>
            </a:r>
            <a:endParaRPr lang="en-US" sz="1400" dirty="0"/>
          </a:p>
        </p:txBody>
      </p:sp>
      <p:sp>
        <p:nvSpPr>
          <p:cNvPr id="24" name="Grupo e-mail círculo"/>
          <p:cNvSpPr/>
          <p:nvPr/>
        </p:nvSpPr>
        <p:spPr>
          <a:xfrm>
            <a:off x="457200" y="3785616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5" name="Grupo e-mail número"/>
          <p:cNvSpPr txBox="1"/>
          <p:nvPr/>
        </p:nvSpPr>
        <p:spPr>
          <a:xfrm>
            <a:off x="457200" y="3785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26" name="Nome e-mail"/>
          <p:cNvSpPr txBox="1"/>
          <p:nvPr/>
        </p:nvSpPr>
        <p:spPr>
          <a:xfrm>
            <a:off x="1051560" y="374904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e-mail</a:t>
            </a:r>
            <a:endParaRPr lang="en-US" sz="1400" dirty="0"/>
          </a:p>
        </p:txBody>
      </p:sp>
      <p:sp>
        <p:nvSpPr>
          <p:cNvPr id="27" name="Descrição e-mail"/>
          <p:cNvSpPr txBox="1"/>
          <p:nvPr/>
        </p:nvSpPr>
        <p:spPr>
          <a:xfrm>
            <a:off x="2834640" y="3749040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formato inválido é rejeitado</a:t>
            </a:r>
            <a:endParaRPr lang="en-US" sz="1400" dirty="0"/>
          </a:p>
        </p:txBody>
      </p:sp>
      <p:sp>
        <p:nvSpPr>
          <p:cNvPr id="28" name="Grupo duplicidade círculo"/>
          <p:cNvSpPr/>
          <p:nvPr/>
        </p:nvSpPr>
        <p:spPr>
          <a:xfrm>
            <a:off x="457200" y="4315968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9" name="Grupo duplicidade número"/>
          <p:cNvSpPr txBox="1"/>
          <p:nvPr/>
        </p:nvSpPr>
        <p:spPr>
          <a:xfrm>
            <a:off x="457200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30" name="Nome duplicidade"/>
          <p:cNvSpPr txBox="1"/>
          <p:nvPr/>
        </p:nvSpPr>
        <p:spPr>
          <a:xfrm>
            <a:off x="1051560" y="42793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duplicidade</a:t>
            </a:r>
            <a:endParaRPr lang="en-US" sz="1400" dirty="0"/>
          </a:p>
        </p:txBody>
      </p:sp>
      <p:sp>
        <p:nvSpPr>
          <p:cNvPr id="31" name="Descrição duplicidade"/>
          <p:cNvSpPr txBox="1"/>
          <p:nvPr/>
        </p:nvSpPr>
        <p:spPr>
          <a:xfrm>
            <a:off x="2834640" y="4279392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usuário e e-mail já em uso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UserServiceTest: 25 testes</a:t>
            </a:r>
            <a:endParaRPr lang="en-US" sz="3000" dirty="0"/>
          </a:p>
        </p:txBody>
      </p:sp>
      <p:sp>
        <p:nvSpPr>
          <p:cNvPr id="4" name="UserService tests row 1 badge"/>
          <p:cNvSpPr/>
          <p:nvPr/>
        </p:nvSpPr>
        <p:spPr>
          <a:xfrm>
            <a:off x="457200" y="1133856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5" name="UserService tests row 1 count"/>
          <p:cNvSpPr txBox="1"/>
          <p:nvPr/>
        </p:nvSpPr>
        <p:spPr>
          <a:xfrm>
            <a:off x="457200" y="1133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6" name="UserService tests row 1 name"/>
          <p:cNvSpPr txBox="1"/>
          <p:nvPr/>
        </p:nvSpPr>
        <p:spPr>
          <a:xfrm>
            <a:off x="1051560" y="1097280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Validações</a:t>
            </a:r>
            <a:endParaRPr lang="en-US" sz="1400" dirty="0"/>
          </a:p>
        </p:txBody>
      </p:sp>
      <p:sp>
        <p:nvSpPr>
          <p:cNvPr id="7" name="UserService tests row 1 description"/>
          <p:cNvSpPr txBox="1"/>
          <p:nvPr/>
        </p:nvSpPr>
        <p:spPr>
          <a:xfrm>
            <a:off x="2834640" y="109728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Senha (8-14), username (5-15) e formato do e-mail.</a:t>
            </a:r>
            <a:endParaRPr lang="en-US" sz="1400" dirty="0"/>
          </a:p>
        </p:txBody>
      </p:sp>
      <p:sp>
        <p:nvSpPr>
          <p:cNvPr id="8" name="UserService tests row 2 badge"/>
          <p:cNvSpPr/>
          <p:nvPr/>
        </p:nvSpPr>
        <p:spPr>
          <a:xfrm>
            <a:off x="457200" y="1773936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9" name="UserService tests row 2 count"/>
          <p:cNvSpPr txBox="1"/>
          <p:nvPr/>
        </p:nvSpPr>
        <p:spPr>
          <a:xfrm>
            <a:off x="457200" y="1773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0" name="UserService tests row 2 name"/>
          <p:cNvSpPr txBox="1"/>
          <p:nvPr/>
        </p:nvSpPr>
        <p:spPr>
          <a:xfrm>
            <a:off x="1051560" y="1737360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checkUser</a:t>
            </a:r>
            <a:endParaRPr lang="en-US" sz="1400" dirty="0"/>
          </a:p>
        </p:txBody>
      </p:sp>
      <p:sp>
        <p:nvSpPr>
          <p:cNvPr id="11" name="UserService tests row 2 description"/>
          <p:cNvSpPr txBox="1"/>
          <p:nvPr/>
        </p:nvSpPr>
        <p:spPr>
          <a:xfrm>
            <a:off x="2834640" y="173736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Cria aluno/admin; recusa credenciais inválidas ou duplicadas.</a:t>
            </a:r>
            <a:endParaRPr lang="en-US" sz="1400" dirty="0"/>
          </a:p>
        </p:txBody>
      </p:sp>
      <p:sp>
        <p:nvSpPr>
          <p:cNvPr id="12" name="UserService tests row 3 badge"/>
          <p:cNvSpPr/>
          <p:nvPr/>
        </p:nvSpPr>
        <p:spPr>
          <a:xfrm>
            <a:off x="457200" y="2414016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3" name="UserService tests row 3 count"/>
          <p:cNvSpPr txBox="1"/>
          <p:nvPr/>
        </p:nvSpPr>
        <p:spPr>
          <a:xfrm>
            <a:off x="457200" y="2414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10</a:t>
            </a:r>
            <a:endParaRPr lang="en-US" sz="1600" dirty="0"/>
          </a:p>
        </p:txBody>
      </p:sp>
      <p:sp>
        <p:nvSpPr>
          <p:cNvPr id="14" name="UserService tests row 3 name"/>
          <p:cNvSpPr txBox="1"/>
          <p:nvPr/>
        </p:nvSpPr>
        <p:spPr>
          <a:xfrm>
            <a:off x="1051560" y="2377440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updateUser</a:t>
            </a:r>
            <a:endParaRPr lang="en-US" sz="1400" dirty="0"/>
          </a:p>
        </p:txBody>
      </p:sp>
      <p:sp>
        <p:nvSpPr>
          <p:cNvPr id="15" name="UserService tests row 3 description"/>
          <p:cNvSpPr txBox="1"/>
          <p:nvPr/>
        </p:nvSpPr>
        <p:spPr>
          <a:xfrm>
            <a:off x="2834640" y="237744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Valida perfil; ignora campos inválidos e trata usuário ausente.</a:t>
            </a:r>
            <a:endParaRPr lang="en-US" sz="1400" dirty="0"/>
          </a:p>
        </p:txBody>
      </p:sp>
      <p:sp>
        <p:nvSpPr>
          <p:cNvPr id="16" name="UserService tests row 4 badge"/>
          <p:cNvSpPr/>
          <p:nvPr/>
        </p:nvSpPr>
        <p:spPr>
          <a:xfrm>
            <a:off x="457200" y="3054096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UserService tests row 4 count"/>
          <p:cNvSpPr txBox="1"/>
          <p:nvPr/>
        </p:nvSpPr>
        <p:spPr>
          <a:xfrm>
            <a:off x="457200" y="3054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UserService tests row 4 name"/>
          <p:cNvSpPr txBox="1"/>
          <p:nvPr/>
        </p:nvSpPr>
        <p:spPr>
          <a:xfrm>
            <a:off x="1051560" y="3017520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deleteUser</a:t>
            </a:r>
            <a:endParaRPr lang="en-US" sz="1400" dirty="0"/>
          </a:p>
        </p:txBody>
      </p:sp>
      <p:sp>
        <p:nvSpPr>
          <p:cNvPr id="19" name="UserService tests row 4 description"/>
          <p:cNvSpPr txBox="1"/>
          <p:nvPr/>
        </p:nvSpPr>
        <p:spPr>
          <a:xfrm>
            <a:off x="2834640" y="301752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Remove vínculos e submissões antes de apagar o usuário.</a:t>
            </a:r>
            <a:endParaRPr lang="en-US" sz="1400" dirty="0"/>
          </a:p>
        </p:txBody>
      </p:sp>
      <p:sp>
        <p:nvSpPr>
          <p:cNvPr id="20" name="UserService tests row 5 badge"/>
          <p:cNvSpPr/>
          <p:nvPr/>
        </p:nvSpPr>
        <p:spPr>
          <a:xfrm>
            <a:off x="457200" y="3694176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1" name="UserService tests row 5 count"/>
          <p:cNvSpPr txBox="1"/>
          <p:nvPr/>
        </p:nvSpPr>
        <p:spPr>
          <a:xfrm>
            <a:off x="457200" y="3694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2" name="UserService tests row 5 name"/>
          <p:cNvSpPr txBox="1"/>
          <p:nvPr/>
        </p:nvSpPr>
        <p:spPr>
          <a:xfrm>
            <a:off x="1051560" y="3657600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saveImg</a:t>
            </a:r>
            <a:endParaRPr lang="en-US" sz="1400" dirty="0"/>
          </a:p>
        </p:txBody>
      </p:sp>
      <p:sp>
        <p:nvSpPr>
          <p:cNvPr id="23" name="UserService tests row 5 description"/>
          <p:cNvSpPr txBox="1"/>
          <p:nvPr/>
        </p:nvSpPr>
        <p:spPr>
          <a:xfrm>
            <a:off x="2834640" y="365760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Testa arquivo nulo ou vazio; upload válido coberto manualmente.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CourseInformationControllerTest: 18 testes</a:t>
            </a:r>
            <a:endParaRPr lang="en-US" sz="3000" dirty="0"/>
          </a:p>
        </p:txBody>
      </p:sp>
      <p:sp>
        <p:nvSpPr>
          <p:cNvPr id="4" name="Grupo visitante círculo"/>
          <p:cNvSpPr/>
          <p:nvPr/>
        </p:nvSpPr>
        <p:spPr>
          <a:xfrm>
            <a:off x="457200" y="1133856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5" name="Grupo visitante número"/>
          <p:cNvSpPr txBox="1"/>
          <p:nvPr/>
        </p:nvSpPr>
        <p:spPr>
          <a:xfrm>
            <a:off x="457200" y="1133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6" name="Nome visitante"/>
          <p:cNvSpPr txBox="1"/>
          <p:nvPr/>
        </p:nvSpPr>
        <p:spPr>
          <a:xfrm>
            <a:off x="1051560" y="10972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visitante</a:t>
            </a:r>
            <a:endParaRPr lang="en-US" sz="1400" dirty="0"/>
          </a:p>
        </p:txBody>
      </p:sp>
      <p:sp>
        <p:nvSpPr>
          <p:cNvPr id="7" name="Descrição visitante"/>
          <p:cNvSpPr txBox="1"/>
          <p:nvPr/>
        </p:nvSpPr>
        <p:spPr>
          <a:xfrm>
            <a:off x="2834640" y="1097280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volta à página do curso, não consulta nem salva, mostra aviso de login</a:t>
            </a:r>
            <a:endParaRPr lang="en-US" sz="1400" dirty="0"/>
          </a:p>
        </p:txBody>
      </p:sp>
      <p:sp>
        <p:nvSpPr>
          <p:cNvPr id="8" name="Grupo inscrição com sucesso círculo"/>
          <p:cNvSpPr/>
          <p:nvPr/>
        </p:nvSpPr>
        <p:spPr>
          <a:xfrm>
            <a:off x="457200" y="1664208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9" name="Grupo inscrição com sucesso número"/>
          <p:cNvSpPr txBox="1"/>
          <p:nvPr/>
        </p:nvSpPr>
        <p:spPr>
          <a:xfrm>
            <a:off x="457200" y="1664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0" name="Nome inscrição com sucesso"/>
          <p:cNvSpPr txBox="1"/>
          <p:nvPr/>
        </p:nvSpPr>
        <p:spPr>
          <a:xfrm>
            <a:off x="1051560" y="162763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inscrição com sucesso</a:t>
            </a:r>
            <a:endParaRPr lang="en-US" sz="1400" dirty="0"/>
          </a:p>
        </p:txBody>
      </p:sp>
      <p:sp>
        <p:nvSpPr>
          <p:cNvPr id="11" name="Descrição inscrição com sucesso"/>
          <p:cNvSpPr txBox="1"/>
          <p:nvPr/>
        </p:nvSpPr>
        <p:spPr>
          <a:xfrm>
            <a:off x="2834640" y="1627632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vai ao perfil, salva usuário e curso, soma 1 e atualiza as duas listas</a:t>
            </a:r>
            <a:endParaRPr lang="en-US" sz="1400" dirty="0"/>
          </a:p>
        </p:txBody>
      </p:sp>
      <p:sp>
        <p:nvSpPr>
          <p:cNvPr id="12" name="Grupo outras inscrições círculo"/>
          <p:cNvSpPr/>
          <p:nvPr/>
        </p:nvSpPr>
        <p:spPr>
          <a:xfrm>
            <a:off x="457200" y="2194560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3" name="Grupo outras inscrições número"/>
          <p:cNvSpPr txBox="1"/>
          <p:nvPr/>
        </p:nvSpPr>
        <p:spPr>
          <a:xfrm>
            <a:off x="457200" y="2194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Nome outras inscrições"/>
          <p:cNvSpPr txBox="1"/>
          <p:nvPr/>
        </p:nvSpPr>
        <p:spPr>
          <a:xfrm>
            <a:off x="1051560" y="215798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outras inscrições</a:t>
            </a:r>
            <a:endParaRPr lang="en-US" sz="1400" dirty="0"/>
          </a:p>
        </p:txBody>
      </p:sp>
      <p:sp>
        <p:nvSpPr>
          <p:cNvPr id="15" name="Descrição outras inscrições"/>
          <p:cNvSpPr txBox="1"/>
          <p:nvPr/>
        </p:nvSpPr>
        <p:spPr>
          <a:xfrm>
            <a:off x="2834640" y="2157984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mantém as anteriores; quem concluiu outro curso ainda se inscreve</a:t>
            </a:r>
            <a:endParaRPr lang="en-US" sz="1400" dirty="0"/>
          </a:p>
        </p:txBody>
      </p:sp>
      <p:sp>
        <p:nvSpPr>
          <p:cNvPr id="16" name="Grupo já inscrito círculo"/>
          <p:cNvSpPr/>
          <p:nvPr/>
        </p:nvSpPr>
        <p:spPr>
          <a:xfrm>
            <a:off x="457200" y="2724912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Grupo já inscrito número"/>
          <p:cNvSpPr txBox="1"/>
          <p:nvPr/>
        </p:nvSpPr>
        <p:spPr>
          <a:xfrm>
            <a:off x="457200" y="2724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Nome já inscrito"/>
          <p:cNvSpPr txBox="1"/>
          <p:nvPr/>
        </p:nvSpPr>
        <p:spPr>
          <a:xfrm>
            <a:off x="1051560" y="268833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já inscrito</a:t>
            </a:r>
            <a:endParaRPr lang="en-US" sz="1400" dirty="0"/>
          </a:p>
        </p:txBody>
      </p:sp>
      <p:sp>
        <p:nvSpPr>
          <p:cNvPr id="19" name="Descrição já inscrito"/>
          <p:cNvSpPr txBox="1"/>
          <p:nvPr/>
        </p:nvSpPr>
        <p:spPr>
          <a:xfrm>
            <a:off x="2834640" y="2688336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volta com mensagem, não salva nada, acha o curso em qualquer posição</a:t>
            </a:r>
            <a:endParaRPr lang="en-US" sz="1400" dirty="0"/>
          </a:p>
        </p:txBody>
      </p:sp>
      <p:sp>
        <p:nvSpPr>
          <p:cNvPr id="20" name="Grupo já concluído círculo"/>
          <p:cNvSpPr/>
          <p:nvPr/>
        </p:nvSpPr>
        <p:spPr>
          <a:xfrm>
            <a:off x="457200" y="3255264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1" name="Grupo já concluído número"/>
          <p:cNvSpPr txBox="1"/>
          <p:nvPr/>
        </p:nvSpPr>
        <p:spPr>
          <a:xfrm>
            <a:off x="457200" y="3255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2" name="Nome já concluído"/>
          <p:cNvSpPr txBox="1"/>
          <p:nvPr/>
        </p:nvSpPr>
        <p:spPr>
          <a:xfrm>
            <a:off x="1051560" y="321868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já concluído</a:t>
            </a:r>
            <a:endParaRPr lang="en-US" sz="1400" dirty="0"/>
          </a:p>
        </p:txBody>
      </p:sp>
      <p:sp>
        <p:nvSpPr>
          <p:cNvPr id="23" name="Descrição já concluído"/>
          <p:cNvSpPr txBox="1"/>
          <p:nvPr/>
        </p:nvSpPr>
        <p:spPr>
          <a:xfrm>
            <a:off x="2834640" y="3218688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volta com mensagem de concluído e não salva nada</a:t>
            </a:r>
            <a:endParaRPr lang="en-US" sz="1400" dirty="0"/>
          </a:p>
        </p:txBody>
      </p:sp>
      <p:sp>
        <p:nvSpPr>
          <p:cNvPr id="24" name="Grupo mensagem única círculo"/>
          <p:cNvSpPr/>
          <p:nvPr/>
        </p:nvSpPr>
        <p:spPr>
          <a:xfrm>
            <a:off x="457200" y="3785616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5" name="Grupo mensagem única número"/>
          <p:cNvSpPr txBox="1"/>
          <p:nvPr/>
        </p:nvSpPr>
        <p:spPr>
          <a:xfrm>
            <a:off x="457200" y="3785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26" name="Nome mensagem única"/>
          <p:cNvSpPr txBox="1"/>
          <p:nvPr/>
        </p:nvSpPr>
        <p:spPr>
          <a:xfrm>
            <a:off x="1051560" y="374904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mensagem única</a:t>
            </a:r>
            <a:endParaRPr lang="en-US" sz="1400" dirty="0"/>
          </a:p>
        </p:txBody>
      </p:sp>
      <p:sp>
        <p:nvSpPr>
          <p:cNvPr id="27" name="Descrição mensagem única"/>
          <p:cNvSpPr txBox="1"/>
          <p:nvPr/>
        </p:nvSpPr>
        <p:spPr>
          <a:xfrm>
            <a:off x="2834640" y="3749040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erro aparece uma vez e depois é limpo</a:t>
            </a:r>
            <a:endParaRPr lang="en-US" sz="1400" dirty="0"/>
          </a:p>
        </p:txBody>
      </p:sp>
      <p:sp>
        <p:nvSpPr>
          <p:cNvPr id="28" name="Grupo curso inexistente círculo"/>
          <p:cNvSpPr/>
          <p:nvPr/>
        </p:nvSpPr>
        <p:spPr>
          <a:xfrm>
            <a:off x="457200" y="4315968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9" name="Grupo curso inexistente número"/>
          <p:cNvSpPr txBox="1"/>
          <p:nvPr/>
        </p:nvSpPr>
        <p:spPr>
          <a:xfrm>
            <a:off x="457200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30" name="Nome curso inexistente"/>
          <p:cNvSpPr txBox="1"/>
          <p:nvPr/>
        </p:nvSpPr>
        <p:spPr>
          <a:xfrm>
            <a:off x="1051560" y="42793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curso inexistente</a:t>
            </a:r>
            <a:endParaRPr lang="en-US" sz="1400" dirty="0"/>
          </a:p>
        </p:txBody>
      </p:sp>
      <p:sp>
        <p:nvSpPr>
          <p:cNvPr id="31" name="Descrição curso inexistente"/>
          <p:cNvSpPr txBox="1"/>
          <p:nvPr/>
        </p:nvSpPr>
        <p:spPr>
          <a:xfrm>
            <a:off x="2834640" y="4279392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comportamento atual: lança NullPointerException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Resultados dos 32 casos manuais</a:t>
            </a:r>
            <a:endParaRPr lang="en-US" sz="3000" dirty="0"/>
          </a:p>
        </p:txBody>
      </p:sp>
      <p:graphicFrame>
        <p:nvGraphicFramePr>
          <p:cNvPr id="4" name="Gráfico de resultados manuais" descr=""/>
          <p:cNvGraphicFramePr/>
          <p:nvPr/>
        </p:nvGraphicFramePr>
        <p:xfrm>
          <a:off x="457200" y="118872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Funcionalidade Modificar curso"/>
          <p:cNvSpPr txBox="1"/>
          <p:nvPr/>
        </p:nvSpPr>
        <p:spPr>
          <a:xfrm>
            <a:off x="5852160" y="1417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Modificar curso</a:t>
            </a:r>
            <a:endParaRPr lang="en-US" sz="1600" dirty="0"/>
          </a:p>
        </p:txBody>
      </p:sp>
      <p:sp>
        <p:nvSpPr>
          <p:cNvPr id="6" name="Execução Modificar curso"/>
          <p:cNvSpPr txBox="1"/>
          <p:nvPr/>
        </p:nvSpPr>
        <p:spPr>
          <a:xfrm>
            <a:off x="5852160" y="17647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 casos, Beatriz Farias, 11/10/2026</a:t>
            </a:r>
            <a:endParaRPr lang="en-US" sz="1400" dirty="0"/>
          </a:p>
        </p:txBody>
      </p:sp>
      <p:sp>
        <p:nvSpPr>
          <p:cNvPr id="7" name="Funcionalidade Práticas (Moodle)"/>
          <p:cNvSpPr txBox="1"/>
          <p:nvPr/>
        </p:nvSpPr>
        <p:spPr>
          <a:xfrm>
            <a:off x="5852160" y="2377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Práticas (Moodle)</a:t>
            </a:r>
            <a:endParaRPr lang="en-US" sz="1600" dirty="0"/>
          </a:p>
        </p:txBody>
      </p:sp>
      <p:sp>
        <p:nvSpPr>
          <p:cNvPr id="8" name="Execução Práticas (Moodle)"/>
          <p:cNvSpPr txBox="1"/>
          <p:nvPr/>
        </p:nvSpPr>
        <p:spPr>
          <a:xfrm>
            <a:off x="5852160" y="27249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13 casos, Gabriella Lima, 11/10/2026</a:t>
            </a:r>
            <a:endParaRPr lang="en-US" sz="1400" dirty="0"/>
          </a:p>
        </p:txBody>
      </p:sp>
      <p:sp>
        <p:nvSpPr>
          <p:cNvPr id="9" name="Funcionalidade Inscrição em curso"/>
          <p:cNvSpPr txBox="1"/>
          <p:nvPr/>
        </p:nvSpPr>
        <p:spPr>
          <a:xfrm>
            <a:off x="5852160" y="3337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Inscrição em curso</a:t>
            </a:r>
            <a:endParaRPr lang="en-US" sz="1600" dirty="0"/>
          </a:p>
        </p:txBody>
      </p:sp>
      <p:sp>
        <p:nvSpPr>
          <p:cNvPr id="10" name="Execução Inscrição em curso"/>
          <p:cNvSpPr txBox="1"/>
          <p:nvPr/>
        </p:nvSpPr>
        <p:spPr>
          <a:xfrm>
            <a:off x="5852160" y="36850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9 casos, Giulia Cadorin, 11/10/2026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Modificar curso: resultados (1/2)</a:t>
            </a:r>
            <a:endParaRPr lang="en-US" sz="3000" dirty="0"/>
          </a:p>
        </p:txBody>
      </p:sp>
      <p:graphicFrame>
        <p:nvGraphicFramePr>
          <p:cNvPr id="16" name="Tabela Modificar curso: resultados (1/2)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788920"/>
                <a:gridCol w="1463040"/>
                <a:gridCol w="28346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Caso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Teste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Observação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CT-MOD-01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Visitante abre /admin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redirecionado ao login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CT-MOD-02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Aluno abre /admin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acesso negado (403)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CT-MOD-03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Salvar os quatro campos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4 campos gravados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CT-MOD-04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Salvar com campos vazios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valores originais mantidos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CT-MOD-05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Salvar só o nome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só o nome mudou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Execução Modificar curso: resultados (1/2)"/>
          <p:cNvSpPr txBox="1"/>
          <p:nvPr/>
        </p:nvSpPr>
        <p:spPr>
          <a:xfrm>
            <a:off x="45720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Executado em 11/10/2026 por Beatriz Farias, no navegador.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Modificar curso: resultados (2/2)</a:t>
            </a:r>
            <a:endParaRPr lang="en-US" sz="3000" dirty="0"/>
          </a:p>
        </p:txBody>
      </p:sp>
      <p:graphicFrame>
        <p:nvGraphicFramePr>
          <p:cNvPr id="17" name="Tabela Modificar curso: resultados (2/2)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788920"/>
                <a:gridCol w="1463040"/>
                <a:gridCol w="28346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Caso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Teste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Observação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CT-MOD-06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Salvar só a descrição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só a descrição mudou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CT-MOD-07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Salvar só o idioma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só o idioma mudou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CT-MOD-08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Salvar só o tipo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só o tipo mudou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CT-MOD-09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Excluir curso com vínculos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4572E"/>
                          </a:solidFill>
                        </a:rPr>
                        <a:t>Falhou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passo 6: página do curso dá 500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CT-MOD-10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Excluir curso sem vínculos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curso removido sem erro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Execução Modificar curso: resultados (2/2)"/>
          <p:cNvSpPr txBox="1"/>
          <p:nvPr/>
        </p:nvSpPr>
        <p:spPr>
          <a:xfrm>
            <a:off x="45720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Executado em 11/10/2026 por Beatriz Farias, no navegador.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Práticas: resultados (1/2)</a:t>
            </a:r>
            <a:endParaRPr lang="en-US" sz="3000" dirty="0"/>
          </a:p>
        </p:txBody>
      </p:sp>
      <p:graphicFrame>
        <p:nvGraphicFramePr>
          <p:cNvPr id="18" name="Tabela Práticas: resultados (1/2)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788920"/>
                <a:gridCol w="1463040"/>
                <a:gridCol w="28346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Caso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Teste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Observação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CT-PRAT-01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Aluno vê as próprias práticas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própria e pendente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CT-PRAT-02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Aluno submete uma prática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nome e arquivo gravados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CT-PRAT-03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Professor corrige e dá nota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nota 8.5, corrigida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CT-PRAT-04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Aluno não pode dar nota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sem campo de nota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CT-PRAT-05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Professor gerencia, não submete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sem formulário de envio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CT-PRAT-06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Não inscrito na disciplina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página de erro amigável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CT-PRAT-07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Aluno baixa só a própria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7791F"/>
                          </a:solidFill>
                        </a:rPr>
                        <a:t>Com ressalva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download alheio dá 200 vazio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Execução Práticas: resultados (1/2)"/>
          <p:cNvSpPr txBox="1"/>
          <p:nvPr/>
        </p:nvSpPr>
        <p:spPr>
          <a:xfrm>
            <a:off x="45720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Executado em 11/10/2026 por Gabriella Lima; CT-PRAT-07 reexecutado em 12/10.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Práticas: resultados (2/2)</a:t>
            </a:r>
            <a:endParaRPr lang="en-US" sz="3000" dirty="0"/>
          </a:p>
        </p:txBody>
      </p:sp>
      <p:graphicFrame>
        <p:nvGraphicFramePr>
          <p:cNvPr id="19" name="Tabela Práticas: resultados (2/2)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788920"/>
                <a:gridCol w="1463040"/>
                <a:gridCol w="28346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Caso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Teste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Observação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CT-08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Nota negativa (-5)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4572E"/>
                          </a:solidFill>
                        </a:rPr>
                        <a:t>Falhou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nota -5.0 gravada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CT-09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Nota acima do máximo (1000)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4572E"/>
                          </a:solidFill>
                        </a:rPr>
                        <a:t>Falhou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nota 1000.0 gravada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CT-10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Nota com texto (abc)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7791F"/>
                          </a:solidFill>
                        </a:rPr>
                        <a:t>Com ressalva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400 sem mensagem amigável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CT-11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Submissão sem arquivo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4572E"/>
                          </a:solidFill>
                        </a:rPr>
                        <a:t>Falhou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marcada como entregue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CT-12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Reenvio após correção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4572E"/>
                          </a:solidFill>
                        </a:rPr>
                        <a:t>Falhou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aluno altera a corrigida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CT-13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Nome vazio com arquivo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nenhum dado alterado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Execução Práticas: resultados (2/2)"/>
          <p:cNvSpPr txBox="1"/>
          <p:nvPr/>
        </p:nvSpPr>
        <p:spPr>
          <a:xfrm>
            <a:off x="45720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Executado em 11/10/2026 por Gabriella Lima; CT-PRAT-07 reexecutado em 12/10.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Inscrição em curso: resultados (1/2)</a:t>
            </a:r>
            <a:endParaRPr lang="en-US" sz="3000" dirty="0"/>
          </a:p>
        </p:txBody>
      </p:sp>
      <p:graphicFrame>
        <p:nvGraphicFramePr>
          <p:cNvPr id="20" name="Tabela Inscrição em curso: resultados (1/2)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788920"/>
                <a:gridCol w="1463040"/>
                <a:gridCol w="28346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Caso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Teste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Observação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CT-INSC-01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Visitante tenta se inscrever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alerta pedindo login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CT-INSC-02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Inscrição com sucesso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curso aparece no perfil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CT-INSC-03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Nova tentativa logo depois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aviso de já inscrito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CT-INSC-04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Curso em que já está inscrito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aviso de já inscrito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CT-INSC-05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Curso que já concluiu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aviso de curso concluído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Execução Inscrição em curso: resultados (1/2)"/>
          <p:cNvSpPr txBox="1"/>
          <p:nvPr/>
        </p:nvSpPr>
        <p:spPr>
          <a:xfrm>
            <a:off x="45720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Executado em 11/10/2026 por Giulia Cadorin, no navegador.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Inscrição em curso: resultados (2/2)</a:t>
            </a:r>
            <a:endParaRPr lang="en-US" sz="3000" dirty="0"/>
          </a:p>
        </p:txBody>
      </p:sp>
      <p:graphicFrame>
        <p:nvGraphicFramePr>
          <p:cNvPr id="21" name="Tabela Inscrição em curso: resultados (2/2)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788920"/>
                <a:gridCol w="1463040"/>
                <a:gridCol w="28346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Caso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Teste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Observação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CT-INSC-06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Mensagem de erro só uma vez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alerta some após F5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CT-INSC-07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Curso que não existe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4572E"/>
                          </a:solidFill>
                        </a:rPr>
                        <a:t>Falhou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erro 500 (NullPointerException)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CT-INSC-08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Mensagem de um usuário a outro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4572E"/>
                          </a:solidFill>
                        </a:rPr>
                        <a:t>Falhou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aviso aparece para outro usuário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CT-INSC-09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Datas de início e fim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4572E"/>
                          </a:solidFill>
                        </a:rPr>
                        <a:t>Falhou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datas com mês 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Execução Inscrição em curso: resultados (2/2)"/>
          <p:cNvSpPr txBox="1"/>
          <p:nvPr/>
        </p:nvSpPr>
        <p:spPr>
          <a:xfrm>
            <a:off x="45720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Executado em 11/10/2026 por Giulia Cadorin, no navegador.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Defeitos do MoodleController</a:t>
            </a:r>
            <a:endParaRPr lang="en-US" sz="3000" dirty="0"/>
          </a:p>
        </p:txBody>
      </p:sp>
      <p:sp>
        <p:nvSpPr>
          <p:cNvPr id="4" name="Cartão Moodle"/>
          <p:cNvSpPr/>
          <p:nvPr/>
        </p:nvSpPr>
        <p:spPr>
          <a:xfrm>
            <a:off x="457200" y="1234440"/>
            <a:ext cx="822960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Lista Moodle"/>
          <p:cNvSpPr txBox="1"/>
          <p:nvPr/>
        </p:nvSpPr>
        <p:spPr>
          <a:xfrm>
            <a:off x="731520" y="1463040"/>
            <a:ext cx="7680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3 NPEs: dois reproduzidos com HTTP 500 e um latente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Nota sem validação de faixa: aceita -5 e 1000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Prática marcada como entregue com arquivo vazio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Submissão já corrigida ainda pode ser alterada pelo aluno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Erro 400 sem mensagem amigável ao enviar nota com texto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count() usado como ID: HTTP 500 com EntityNotFoundException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Download de prática alheia bloqueado com resposta 200 vazia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Defeitos em cursos e inscrição</a:t>
            </a:r>
            <a:endParaRPr lang="en-US" sz="3000" dirty="0"/>
          </a:p>
        </p:txBody>
      </p:sp>
      <p:sp>
        <p:nvSpPr>
          <p:cNvPr id="4" name="Cartão Curso inexistente devolve 500"/>
          <p:cNvSpPr/>
          <p:nvPr/>
        </p:nvSpPr>
        <p:spPr>
          <a:xfrm>
            <a:off x="457200" y="1234440"/>
            <a:ext cx="2560320" cy="33832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ítulo Curso inexistente devolve 500"/>
          <p:cNvSpPr txBox="1"/>
          <p:nvPr/>
        </p:nvSpPr>
        <p:spPr>
          <a:xfrm>
            <a:off x="640080" y="1371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Curso inexistente devolve 500</a:t>
            </a:r>
            <a:endParaRPr lang="en-US" sz="1800" dirty="0"/>
          </a:p>
        </p:txBody>
      </p:sp>
      <p:sp>
        <p:nvSpPr>
          <p:cNvPr id="6" name="Casos Curso inexistente devolve 500"/>
          <p:cNvSpPr txBox="1"/>
          <p:nvPr/>
        </p:nvSpPr>
        <p:spPr>
          <a:xfrm>
            <a:off x="64008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CT-MOD-09 e CT-INSC-07</a:t>
            </a:r>
            <a:endParaRPr lang="en-US" sz="1400" dirty="0"/>
          </a:p>
        </p:txBody>
      </p:sp>
      <p:sp>
        <p:nvSpPr>
          <p:cNvPr id="7" name="Causa Curso inexistente devolve 500"/>
          <p:cNvSpPr txBox="1"/>
          <p:nvPr/>
        </p:nvSpPr>
        <p:spPr>
          <a:xfrm>
            <a:off x="640080" y="260604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findByInternalName devolve null e o código chama course.getName() sem checar: NullPointerException.</a:t>
            </a:r>
            <a:endParaRPr lang="en-US" sz="1400" dirty="0"/>
          </a:p>
        </p:txBody>
      </p:sp>
      <p:sp>
        <p:nvSpPr>
          <p:cNvPr id="8" name="Cartão Aviso aparece para outro usuário"/>
          <p:cNvSpPr/>
          <p:nvPr/>
        </p:nvSpPr>
        <p:spPr>
          <a:xfrm>
            <a:off x="3291840" y="1234440"/>
            <a:ext cx="2560320" cy="33832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ítulo Aviso aparece para outro usuário"/>
          <p:cNvSpPr txBox="1"/>
          <p:nvPr/>
        </p:nvSpPr>
        <p:spPr>
          <a:xfrm>
            <a:off x="3474720" y="1371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Aviso aparece para outro usuário</a:t>
            </a:r>
            <a:endParaRPr lang="en-US" sz="1800" dirty="0"/>
          </a:p>
        </p:txBody>
      </p:sp>
      <p:sp>
        <p:nvSpPr>
          <p:cNvPr id="10" name="Casos Aviso aparece para outro usuário"/>
          <p:cNvSpPr txBox="1"/>
          <p:nvPr/>
        </p:nvSpPr>
        <p:spPr>
          <a:xfrm>
            <a:off x="347472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CT-INSC-08</a:t>
            </a:r>
            <a:endParaRPr lang="en-US" sz="1400" dirty="0"/>
          </a:p>
        </p:txBody>
      </p:sp>
      <p:sp>
        <p:nvSpPr>
          <p:cNvPr id="11" name="Causa Aviso aparece para outro usuário"/>
          <p:cNvSpPr txBox="1"/>
          <p:nvPr/>
        </p:nvSpPr>
        <p:spPr>
          <a:xfrm>
            <a:off x="3474720" y="260604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mensagem fica guardada no servidor e é exibida a quem abrir a página depois.</a:t>
            </a:r>
            <a:endParaRPr lang="en-US" sz="1400" dirty="0"/>
          </a:p>
        </p:txBody>
      </p:sp>
      <p:sp>
        <p:nvSpPr>
          <p:cNvPr id="12" name="Cartão Datas com mês 00"/>
          <p:cNvSpPr/>
          <p:nvPr/>
        </p:nvSpPr>
        <p:spPr>
          <a:xfrm>
            <a:off x="6126480" y="1234440"/>
            <a:ext cx="2560320" cy="33832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ítulo Datas com mês 00"/>
          <p:cNvSpPr txBox="1"/>
          <p:nvPr/>
        </p:nvSpPr>
        <p:spPr>
          <a:xfrm>
            <a:off x="6309360" y="1371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Datas com mês 00</a:t>
            </a:r>
            <a:endParaRPr lang="en-US" sz="1800" dirty="0"/>
          </a:p>
        </p:txBody>
      </p:sp>
      <p:sp>
        <p:nvSpPr>
          <p:cNvPr id="14" name="Casos Datas com mês 00"/>
          <p:cNvSpPr txBox="1"/>
          <p:nvPr/>
        </p:nvSpPr>
        <p:spPr>
          <a:xfrm>
            <a:off x="630936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CT-INSC-09</a:t>
            </a:r>
            <a:endParaRPr lang="en-US" sz="1400" dirty="0"/>
          </a:p>
        </p:txBody>
      </p:sp>
      <p:sp>
        <p:nvSpPr>
          <p:cNvPr id="15" name="Causa Datas com mês 00"/>
          <p:cNvSpPr txBox="1"/>
          <p:nvPr/>
        </p:nvSpPr>
        <p:spPr>
          <a:xfrm>
            <a:off x="6309360" y="260604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formato dd-mm-yyyy usa mm, que é minuto, no lugar de MM, que é mês.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Próximos passos: Entrega 2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9260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Testes de integração e E2E com Selenium, um por integrante</a:t>
            </a:r>
            <a:endParaRPr lang="en-US" sz="18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Cobertura de arestas e escore de mutação de 80% nas classes foco</a:t>
            </a:r>
            <a:endParaRPr lang="en-US" sz="18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Inspeção com SonarQube e correção dos defeitos abertos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UserService manual row 1 badge"/>
          <p:cNvSpPr/>
          <p:nvPr/>
        </p:nvSpPr>
        <p:spPr>
          <a:xfrm>
            <a:off x="457200" y="1133856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UserService manual row 1 number"/>
          <p:cNvSpPr txBox="1"/>
          <p:nvPr/>
        </p:nvSpPr>
        <p:spPr>
          <a:xfrm>
            <a:off x="457200" y="1133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5" name="UserService manual row 1 label"/>
          <p:cNvSpPr txBox="1"/>
          <p:nvPr/>
        </p:nvSpPr>
        <p:spPr>
          <a:xfrm>
            <a:off x="1051560" y="1097280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Cadastro</a:t>
            </a:r>
            <a:endParaRPr lang="en-US" sz="1400" dirty="0"/>
          </a:p>
        </p:txBody>
      </p:sp>
      <p:sp>
        <p:nvSpPr>
          <p:cNvPr id="6" name="UserService manual row 1 description"/>
          <p:cNvSpPr txBox="1"/>
          <p:nvPr/>
        </p:nvSpPr>
        <p:spPr>
          <a:xfrm>
            <a:off x="2834640" y="109728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CT-USR-01-06: validação, duplicidade e senha.</a:t>
            </a:r>
            <a:endParaRPr lang="en-US" sz="1400" dirty="0"/>
          </a:p>
        </p:txBody>
      </p:sp>
      <p:sp>
        <p:nvSpPr>
          <p:cNvPr id="7" name="UserService manual row 2 badge"/>
          <p:cNvSpPr/>
          <p:nvPr/>
        </p:nvSpPr>
        <p:spPr>
          <a:xfrm>
            <a:off x="457200" y="1773936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8" name="UserService manual row 2 number"/>
          <p:cNvSpPr txBox="1"/>
          <p:nvPr/>
        </p:nvSpPr>
        <p:spPr>
          <a:xfrm>
            <a:off x="457200" y="1773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UserService manual row 2 label"/>
          <p:cNvSpPr txBox="1"/>
          <p:nvPr/>
        </p:nvSpPr>
        <p:spPr>
          <a:xfrm>
            <a:off x="1051560" y="1737360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Perfil</a:t>
            </a:r>
            <a:endParaRPr lang="en-US" sz="1400" dirty="0"/>
          </a:p>
        </p:txBody>
      </p:sp>
      <p:sp>
        <p:nvSpPr>
          <p:cNvPr id="10" name="UserService manual row 2 description"/>
          <p:cNvSpPr txBox="1"/>
          <p:nvPr/>
        </p:nvSpPr>
        <p:spPr>
          <a:xfrm>
            <a:off x="2834640" y="173736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CT-USR-07-08: atualização e limites dos campos.</a:t>
            </a:r>
            <a:endParaRPr lang="en-US" sz="1400" dirty="0"/>
          </a:p>
        </p:txBody>
      </p:sp>
      <p:sp>
        <p:nvSpPr>
          <p:cNvPr id="11" name="UserService manual row 3 badge"/>
          <p:cNvSpPr/>
          <p:nvPr/>
        </p:nvSpPr>
        <p:spPr>
          <a:xfrm>
            <a:off x="457200" y="2414016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2" name="UserService manual row 3 number"/>
          <p:cNvSpPr txBox="1"/>
          <p:nvPr/>
        </p:nvSpPr>
        <p:spPr>
          <a:xfrm>
            <a:off x="457200" y="2414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UserService manual row 3 label"/>
          <p:cNvSpPr txBox="1"/>
          <p:nvPr/>
        </p:nvSpPr>
        <p:spPr>
          <a:xfrm>
            <a:off x="1051560" y="2377440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Foto do perfil</a:t>
            </a:r>
            <a:endParaRPr lang="en-US" sz="1400" dirty="0"/>
          </a:p>
        </p:txBody>
      </p:sp>
      <p:sp>
        <p:nvSpPr>
          <p:cNvPr id="14" name="UserService manual row 3 description"/>
          <p:cNvSpPr txBox="1"/>
          <p:nvPr/>
        </p:nvSpPr>
        <p:spPr>
          <a:xfrm>
            <a:off x="2834640" y="237744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CT-USR-09-10: imagem padrão, upload e consulta.</a:t>
            </a:r>
            <a:endParaRPr lang="en-US" sz="1400" dirty="0"/>
          </a:p>
        </p:txBody>
      </p:sp>
      <p:sp>
        <p:nvSpPr>
          <p:cNvPr id="15" name="UserService manual row 4 badge"/>
          <p:cNvSpPr/>
          <p:nvPr/>
        </p:nvSpPr>
        <p:spPr>
          <a:xfrm>
            <a:off x="457200" y="3054096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6" name="UserService manual row 4 number"/>
          <p:cNvSpPr txBox="1"/>
          <p:nvPr/>
        </p:nvSpPr>
        <p:spPr>
          <a:xfrm>
            <a:off x="457200" y="3054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UserService manual row 4 label"/>
          <p:cNvSpPr txBox="1"/>
          <p:nvPr/>
        </p:nvSpPr>
        <p:spPr>
          <a:xfrm>
            <a:off x="1051560" y="3017520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Exclusão da conta</a:t>
            </a:r>
            <a:endParaRPr lang="en-US" sz="1400" dirty="0"/>
          </a:p>
        </p:txBody>
      </p:sp>
      <p:sp>
        <p:nvSpPr>
          <p:cNvPr id="18" name="UserService manual row 4 description"/>
          <p:cNvSpPr txBox="1"/>
          <p:nvPr/>
        </p:nvSpPr>
        <p:spPr>
          <a:xfrm>
            <a:off x="2834640" y="301752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CT-USR-11-12: bloqueio para aluno; remoção por admin.</a:t>
            </a:r>
            <a:endParaRPr lang="en-US" sz="1400" dirty="0"/>
          </a:p>
        </p:txBody>
      </p:sp>
      <p:sp>
        <p:nvSpPr>
          <p:cNvPr id="1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  <p:sp>
        <p:nvSpPr>
          <p:cNvPr id="20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UserService: 12 casos manuais aprovados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lidade de Software">
  <a:themeElements>
    <a:clrScheme name="Qualidade de Software">
      <a:dk1>
        <a:srgbClr val="16222E"/>
      </a:dk1>
      <a:lt1>
        <a:srgbClr val="FFFFFF"/>
      </a:lt1>
      <a:dk2>
        <a:srgbClr val="0F4C5C"/>
      </a:dk2>
      <a:lt2>
        <a:srgbClr val="EEF3F5"/>
      </a:lt2>
      <a:accent1>
        <a:srgbClr val="0F8B8D"/>
      </a:accent1>
      <a:accent2>
        <a:srgbClr val="E4572E"/>
      </a:accent2>
      <a:accent3>
        <a:srgbClr val="2E9E6B"/>
      </a:accent3>
      <a:accent4>
        <a:srgbClr val="F2B134"/>
      </a:accent4>
      <a:accent5>
        <a:srgbClr val="5B7C99"/>
      </a:accent5>
      <a:accent6>
        <a:srgbClr val="A8C5D1"/>
      </a:accent6>
      <a:hlink>
        <a:srgbClr val="0F8B8D"/>
      </a:hlink>
      <a:folHlink>
        <a:srgbClr val="5B7C99"/>
      </a:folHlink>
    </a:clrScheme>
    <a:fontScheme name="Qualidade de Softwar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Qualidade de Software - parte 1</dc:title>
  <dc:subject>PptxGenJS Presentation</dc:subject>
  <dc:creator>Grupo COS482</dc:creator>
  <cp:lastModifiedBy>Grupo COS482</cp:lastModifiedBy>
  <cp:revision>1</cp:revision>
  <dcterms:created xsi:type="dcterms:W3CDTF">2026-10-12T22:09:20Z</dcterms:created>
  <dcterms:modified xsi:type="dcterms:W3CDTF">2026-10-12T22:09:20Z</dcterms:modified>
</cp:coreProperties>
</file>